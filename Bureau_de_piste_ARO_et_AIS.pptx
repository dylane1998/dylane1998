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c18802-116f-5988-c7ad-a9b08f9a7ddb}">
          <p14:sldIdLst>
            <p14:sldId id="256"/>
            <p14:sldId id="257"/>
          </p14:sldIdLst>
        </p14:section>
        <p14:section name="Le bureau de piste ATS (ARO)" id="{6862d1b2-7474-40c9-984c-37bf41560b93}">
          <p14:sldIdLst>
            <p14:sldId id="258"/>
            <p14:sldId id="259"/>
            <p14:sldId id="260"/>
          </p14:sldIdLst>
        </p14:section>
        <p14:section name="Le bureau d'information aéronautique (AIS)" id="{add06ef1-97b4-af16-1bac-c4867576e800}">
          <p14:sldIdLst>
            <p14:sldId id="261"/>
            <p14:sldId id="262"/>
          </p14:sldIdLst>
        </p14:section>
        <p14:section name="Sécurité et coordination" id="{c3668d85-fdaa-712e-7015-4a4249f24a58}">
          <p14:sldIdLst>
            <p14:sldId id="263"/>
            <p14:sldId id="264"/>
          </p14:sldIdLst>
        </p14:section>
        <p14:section name="Conclusion" id="{f3fd7bac-ec01-f534-a866-6a4daa76cd7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des deux bureaux qui accueillent le pilote avant le vol : l'ARO (plans de vol) et l'AIS (information aéronautique).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ARO &amp; AIS · Services de la circulation aérienne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Bureau de piste ATS et bureau d'information aéronautique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ARO et AIS : deux services au sol au cœur de la préparation du vol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Deux bureaux, un même objectif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45720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1 circle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ad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94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Bureau de piste ATS (ARO)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ATS Reporting Office · Annexe 11, Doc 4444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Reçoit les comptes rendus relatifs aux services de la circulation aérienne et les plans de vol déposés avant le départ.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470916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 circle"/>
          <p:cNvSpPr/>
          <p:nvPr/>
        </p:nvSpPr>
        <p:spPr>
          <a:xfrm>
            <a:off x="498348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bad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6230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3480" y="2194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Bureau d'information aéronautique (AIS)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Annexe 15, Doc 10066 (PANS-AIM)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2004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 à disposition l'information aéronautique avant le vol et recueille les observations des équipages après le vol.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missions du bureau de piste ATS</a:t>
            </a:r>
            <a:endParaRPr lang="en-US" sz="3000" dirty="0"/>
          </a:p>
        </p:txBody>
      </p:sp>
      <p:sp>
        <p:nvSpPr>
          <p:cNvPr id="3" name="aro badge 1 circle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aro bad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70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Recevoir et contrôler les plans de vol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481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Format, route, niveaux, équipements (cases 10 et 18), horaires, dégagements.</a:t>
            </a:r>
            <a:endParaRPr lang="en-US" sz="1300" dirty="0"/>
          </a:p>
        </p:txBody>
      </p:sp>
      <p:sp>
        <p:nvSpPr>
          <p:cNvPr id="7" name="aro badge 2 circle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ro bad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039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Transmettre sur le réseau RSFTA (AFTN)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2350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Vers la tour, l'approche, le CCR et les FIR traversées ; via l'IFPS en Europe.</a:t>
            </a:r>
            <a:endParaRPr lang="en-US" sz="1300" dirty="0"/>
          </a:p>
        </p:txBody>
      </p:sp>
      <p:sp>
        <p:nvSpPr>
          <p:cNvPr id="11" name="aro badge 3 circle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ro badg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63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907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Traiter les messages associés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3218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Modification, retard, annulation, départ et arrivée.</a:t>
            </a:r>
            <a:endParaRPr lang="en-US" sz="1300" dirty="0"/>
          </a:p>
        </p:txBody>
      </p:sp>
      <p:sp>
        <p:nvSpPr>
          <p:cNvPr id="15" name="aro badge 4 circle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aro badg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319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776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Recevoir les comptes rendus et alerter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4087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Arrivées sans organe ATS sur place ; contribue au déclenchement des phases d'alerte.</a:t>
            </a:r>
            <a:endParaRPr lang="en-US" sz="1300" dirty="0"/>
          </a:p>
        </p:txBody>
      </p:sp>
      <p:sp>
        <p:nvSpPr>
          <p:cNvPr id="19" name="quote card"/>
          <p:cNvSpPr/>
          <p:nvPr/>
        </p:nvSpPr>
        <p:spPr>
          <a:xfrm>
            <a:off x="6172200" y="1188720"/>
            <a:ext cx="2514600" cy="324612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40080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Définition OACI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0" y="178308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« Organe chargé de recevoir des comptes rendus concernant les services de la circulation aérienne et des plans de vol présentés avant le départ. 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cycle de vie d'un plan de vol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371600"/>
            <a:ext cx="1463040" cy="30175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num 1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Dépôt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4320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 pilote ou l'exploitant dépose le FPL (au moins 60 min avant le départ en général).</a:t>
            </a:r>
            <a:endParaRPr lang="en-US" sz="1200" dirty="0"/>
          </a:p>
        </p:txBody>
      </p:sp>
      <p:pic>
        <p:nvPicPr>
          <p:cNvPr id="8" name="arrow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828800"/>
            <a:ext cx="155448" cy="155448"/>
          </a:xfrm>
          <a:prstGeom prst="rect">
            <a:avLst/>
          </a:prstGeom>
        </p:spPr>
      </p:pic>
      <p:sp>
        <p:nvSpPr>
          <p:cNvPr id="9" name="step 2"/>
          <p:cNvSpPr/>
          <p:nvPr/>
        </p:nvSpPr>
        <p:spPr>
          <a:xfrm>
            <a:off x="2148840" y="1371600"/>
            <a:ext cx="1463040" cy="30175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ep num 2"/>
          <p:cNvSpPr/>
          <p:nvPr/>
        </p:nvSpPr>
        <p:spPr>
          <a:xfrm>
            <a:off x="256032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560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Contrôle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274320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L'ARO vérifie le formulaire et sa cohérence avec l'AIP et les NOTAM.</a:t>
            </a:r>
            <a:endParaRPr lang="en-US" sz="1200" dirty="0"/>
          </a:p>
        </p:txBody>
      </p:sp>
      <p:pic>
        <p:nvPicPr>
          <p:cNvPr id="14" name="arrow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828800"/>
            <a:ext cx="155448" cy="155448"/>
          </a:xfrm>
          <a:prstGeom prst="rect">
            <a:avLst/>
          </a:prstGeom>
        </p:spPr>
      </p:pic>
      <p:sp>
        <p:nvSpPr>
          <p:cNvPr id="15" name="step 3"/>
          <p:cNvSpPr/>
          <p:nvPr/>
        </p:nvSpPr>
        <p:spPr>
          <a:xfrm>
            <a:off x="3840480" y="1371600"/>
            <a:ext cx="1463040" cy="30175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num 3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2519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397764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Diffusion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977640" y="274320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 FPL part sur le RSFTA vers tous les organes ATS concernés.</a:t>
            </a:r>
            <a:endParaRPr lang="en-US" sz="1200" dirty="0"/>
          </a:p>
        </p:txBody>
      </p:sp>
      <p:pic>
        <p:nvPicPr>
          <p:cNvPr id="20" name="arrow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828800"/>
            <a:ext cx="155448" cy="155448"/>
          </a:xfrm>
          <a:prstGeom prst="rect">
            <a:avLst/>
          </a:prstGeom>
        </p:spPr>
      </p:pic>
      <p:sp>
        <p:nvSpPr>
          <p:cNvPr id="21" name="step 4"/>
          <p:cNvSpPr/>
          <p:nvPr/>
        </p:nvSpPr>
        <p:spPr>
          <a:xfrm>
            <a:off x="5532120" y="1371600"/>
            <a:ext cx="1463040" cy="30175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tep num 4"/>
          <p:cNvSpPr/>
          <p:nvPr/>
        </p:nvSpPr>
        <p:spPr>
          <a:xfrm>
            <a:off x="59436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9436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Vol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669280" y="274320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Messages DEP, puis CHG ou DLA si besoin.</a:t>
            </a:r>
            <a:endParaRPr lang="en-US" sz="1200" dirty="0"/>
          </a:p>
        </p:txBody>
      </p:sp>
      <p:pic>
        <p:nvPicPr>
          <p:cNvPr id="26" name="arrow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828800"/>
            <a:ext cx="155448" cy="155448"/>
          </a:xfrm>
          <a:prstGeom prst="rect">
            <a:avLst/>
          </a:prstGeom>
        </p:spPr>
      </p:pic>
      <p:sp>
        <p:nvSpPr>
          <p:cNvPr id="27" name="step 5"/>
          <p:cNvSpPr/>
          <p:nvPr/>
        </p:nvSpPr>
        <p:spPr>
          <a:xfrm>
            <a:off x="7223760" y="1371600"/>
            <a:ext cx="1463040" cy="30175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tep num 5"/>
          <p:cNvSpPr/>
          <p:nvPr/>
        </p:nvSpPr>
        <p:spPr>
          <a:xfrm>
            <a:off x="76352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635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736092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Clôture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360920" y="274320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Message ARR ou compte rendu d'arrivée : le plan de vol est clos.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principaux messages ATS</a:t>
            </a:r>
            <a:endParaRPr lang="en-US" sz="3000" dirty="0"/>
          </a:p>
        </p:txBody>
      </p:sp>
      <p:sp>
        <p:nvSpPr>
          <p:cNvPr id="3" name="msg FPL"/>
          <p:cNvSpPr/>
          <p:nvPr/>
        </p:nvSpPr>
        <p:spPr>
          <a:xfrm>
            <a:off x="45720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de vol déposé</a:t>
            </a:r>
            <a:endParaRPr lang="en-US" sz="1400" dirty="0"/>
          </a:p>
        </p:txBody>
      </p:sp>
      <p:sp>
        <p:nvSpPr>
          <p:cNvPr id="6" name="msg CHG"/>
          <p:cNvSpPr/>
          <p:nvPr/>
        </p:nvSpPr>
        <p:spPr>
          <a:xfrm>
            <a:off x="3264408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93008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CHG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Modification d'un plan de vol</a:t>
            </a:r>
            <a:endParaRPr lang="en-US" sz="1400" dirty="0"/>
          </a:p>
        </p:txBody>
      </p:sp>
      <p:sp>
        <p:nvSpPr>
          <p:cNvPr id="9" name="msg DLA"/>
          <p:cNvSpPr/>
          <p:nvPr/>
        </p:nvSpPr>
        <p:spPr>
          <a:xfrm>
            <a:off x="6071616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0216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Retard au départ</a:t>
            </a:r>
            <a:endParaRPr lang="en-US" sz="1400" dirty="0"/>
          </a:p>
        </p:txBody>
      </p:sp>
      <p:sp>
        <p:nvSpPr>
          <p:cNvPr id="12" name="msg CNL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CNL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Annulation du plan de vol</a:t>
            </a:r>
            <a:endParaRPr lang="en-US" sz="1400" dirty="0"/>
          </a:p>
        </p:txBody>
      </p:sp>
      <p:sp>
        <p:nvSpPr>
          <p:cNvPr id="15" name="msg DEP"/>
          <p:cNvSpPr/>
          <p:nvPr/>
        </p:nvSpPr>
        <p:spPr>
          <a:xfrm>
            <a:off x="3264408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93008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Départ effectif de l'aéronef</a:t>
            </a:r>
            <a:endParaRPr lang="en-US" sz="1400" dirty="0"/>
          </a:p>
        </p:txBody>
      </p:sp>
      <p:sp>
        <p:nvSpPr>
          <p:cNvPr id="18" name="msg ARR"/>
          <p:cNvSpPr/>
          <p:nvPr/>
        </p:nvSpPr>
        <p:spPr>
          <a:xfrm>
            <a:off x="6071616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00216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Arrivée, clôture du plan de vol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bureau AIS : avant et après le vol</a:t>
            </a:r>
            <a:endParaRPr lang="en-US" sz="3000" dirty="0"/>
          </a:p>
        </p:txBody>
      </p:sp>
      <p:sp>
        <p:nvSpPr>
          <p:cNvPr id="3" name="phase 1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hase badge 1 circle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hase bad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le vol (pré-vol)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Exposé verbal ou documentation (briefing)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Bulletins d'information prévol (PIB)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NOTAM en vigueur sur la route et aux aérodromes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État des pistes, aides radio et zones réglementées</a:t>
            </a:r>
            <a:endParaRPr lang="en-US" sz="1400" dirty="0"/>
          </a:p>
        </p:txBody>
      </p:sp>
      <p:sp>
        <p:nvSpPr>
          <p:cNvPr id="8" name="phase 2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hase badge 2 circle"/>
          <p:cNvSpPr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hase bad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 le vol (post-vol)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Recueil des observations des équipages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Aide radio en panne, péril aviaire, état de piste…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Transmission au service AIS central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Émission éventuelle d'un NOTAM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documentation du bureau AIS</a:t>
            </a:r>
            <a:endParaRPr lang="en-US" sz="3000" dirty="0"/>
          </a:p>
        </p:txBody>
      </p:sp>
      <p:sp>
        <p:nvSpPr>
          <p:cNvPr id="3" name="doc badge AIP circle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doc badge AI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996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Publication d'information aéronautique : la référence permanente (GEN, ENR, AD).</a:t>
            </a:r>
            <a:endParaRPr lang="en-US" sz="1300" dirty="0"/>
          </a:p>
        </p:txBody>
      </p:sp>
      <p:sp>
        <p:nvSpPr>
          <p:cNvPr id="7" name="doc badge NOTAM circle"/>
          <p:cNvSpPr/>
          <p:nvPr/>
        </p:nvSpPr>
        <p:spPr>
          <a:xfrm>
            <a:off x="466344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doc badge NOTAM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NOTAM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4996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Avis temporaires urgents : fermeture de piste, panne d'aide radio, zone active.</a:t>
            </a:r>
            <a:endParaRPr lang="en-US" sz="1300" dirty="0"/>
          </a:p>
        </p:txBody>
      </p:sp>
      <p:sp>
        <p:nvSpPr>
          <p:cNvPr id="11" name="doc badge AMDT et SUP circle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doc badge AMDT et S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AMDT et SUP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6426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Amendements et suppléments qui mettent l'AIP à jour.</a:t>
            </a:r>
            <a:endParaRPr lang="en-US" sz="1300" dirty="0"/>
          </a:p>
        </p:txBody>
      </p:sp>
      <p:sp>
        <p:nvSpPr>
          <p:cNvPr id="15" name="doc badge AIC circle"/>
          <p:cNvSpPr/>
          <p:nvPr/>
        </p:nvSpPr>
        <p:spPr>
          <a:xfrm>
            <a:off x="466344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doc badge A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5146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AIC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6426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Circulaires d'information : explications, sécurité, réglementation.</a:t>
            </a:r>
            <a:endParaRPr lang="en-US" sz="1300" dirty="0"/>
          </a:p>
        </p:txBody>
      </p:sp>
      <p:sp>
        <p:nvSpPr>
          <p:cNvPr id="19" name="doc badge PIB circle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doc badge PIB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5760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PIB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7856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Bulletin prévol : la sélection de NOTAM pour un vol donné.</a:t>
            </a:r>
            <a:endParaRPr lang="en-US" sz="1300" dirty="0"/>
          </a:p>
        </p:txBody>
      </p:sp>
      <p:sp>
        <p:nvSpPr>
          <p:cNvPr id="23" name="doc badge Cartes circle"/>
          <p:cNvSpPr/>
          <p:nvPr/>
        </p:nvSpPr>
        <p:spPr>
          <a:xfrm>
            <a:off x="4663440" y="3520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doc badge Cart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65760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Cartes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7856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Cartes aéronautiques : en route, approche, aérodrome.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 de vol non clôturé : les phases d'alerte</a:t>
            </a:r>
            <a:endParaRPr lang="en-US" sz="3000" dirty="0"/>
          </a:p>
        </p:txBody>
      </p:sp>
      <p:sp>
        <p:nvSpPr>
          <p:cNvPr id="3" name="alert INCERFA"/>
          <p:cNvSpPr/>
          <p:nvPr/>
        </p:nvSpPr>
        <p:spPr>
          <a:xfrm>
            <a:off x="457200" y="1188720"/>
            <a:ext cx="2606040" cy="32461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lert tag INCERFA"/>
          <p:cNvSpPr/>
          <p:nvPr/>
        </p:nvSpPr>
        <p:spPr>
          <a:xfrm>
            <a:off x="685800" y="1417320"/>
            <a:ext cx="214884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INCERFA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Phase 1 · Incertitude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Aucune nouvelle 30 min après l'heure prévue d'un compte rendu, ou aéronef non arrivé 30 min après l'heure estimée.</a:t>
            </a:r>
            <a:endParaRPr lang="en-US" sz="1300" dirty="0"/>
          </a:p>
        </p:txBody>
      </p:sp>
      <p:sp>
        <p:nvSpPr>
          <p:cNvPr id="8" name="alert ALERFA"/>
          <p:cNvSpPr/>
          <p:nvPr/>
        </p:nvSpPr>
        <p:spPr>
          <a:xfrm>
            <a:off x="3264408" y="1188720"/>
            <a:ext cx="2606040" cy="32461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lert tag ALERFA"/>
          <p:cNvSpPr/>
          <p:nvPr/>
        </p:nvSpPr>
        <p:spPr>
          <a:xfrm>
            <a:off x="3493008" y="1417320"/>
            <a:ext cx="21488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93008" y="1417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ALERFA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Phase 2 · Alerte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6517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Les recherches menées pendant l'incertitude restent sans résultat, ou des informations font craindre pour la sécurité du vol.</a:t>
            </a:r>
            <a:endParaRPr lang="en-US" sz="1300" dirty="0"/>
          </a:p>
        </p:txBody>
      </p:sp>
      <p:sp>
        <p:nvSpPr>
          <p:cNvPr id="13" name="alert DETRESFA"/>
          <p:cNvSpPr/>
          <p:nvPr/>
        </p:nvSpPr>
        <p:spPr>
          <a:xfrm>
            <a:off x="6071616" y="1188720"/>
            <a:ext cx="2606040" cy="32461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lert tag DETRESFA"/>
          <p:cNvSpPr/>
          <p:nvPr/>
        </p:nvSpPr>
        <p:spPr>
          <a:xfrm>
            <a:off x="6300216" y="1417320"/>
            <a:ext cx="214884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0216" y="1417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DETRESFA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Phase 3 · Détresse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6517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Les recherches échouent encore, le carburant est épuisé, ou un atterrissage forcé est probable.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ARO + AIS + MET : le guichet unique du pilote</a:t>
            </a:r>
            <a:endParaRPr lang="en-US" sz="3000" dirty="0"/>
          </a:p>
        </p:txBody>
      </p:sp>
      <p:sp>
        <p:nvSpPr>
          <p:cNvPr id="3" name="trio ARO circle"/>
          <p:cNvSpPr/>
          <p:nvPr/>
        </p:nvSpPr>
        <p:spPr>
          <a:xfrm>
            <a:off x="548640" y="21945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trio A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Plan de vol</a:t>
            </a:r>
            <a:endParaRPr lang="en-US" sz="1200" dirty="0"/>
          </a:p>
        </p:txBody>
      </p:sp>
      <p:sp>
        <p:nvSpPr>
          <p:cNvPr id="7" name="trio AIS circle"/>
          <p:cNvSpPr/>
          <p:nvPr/>
        </p:nvSpPr>
        <p:spPr>
          <a:xfrm>
            <a:off x="1965960" y="13716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trio AI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NOTAM et AIP</a:t>
            </a:r>
            <a:endParaRPr lang="en-US" sz="1200" dirty="0"/>
          </a:p>
        </p:txBody>
      </p:sp>
      <p:sp>
        <p:nvSpPr>
          <p:cNvPr id="11" name="trio MET circle"/>
          <p:cNvSpPr/>
          <p:nvPr/>
        </p:nvSpPr>
        <p:spPr>
          <a:xfrm>
            <a:off x="3383280" y="21945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trio ME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688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0040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20040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Météo (METAR, TAF)</a:t>
            </a:r>
            <a:endParaRPr lang="en-US" sz="1200" dirty="0"/>
          </a:p>
        </p:txBody>
      </p:sp>
      <p:sp>
        <p:nvSpPr>
          <p:cNvPr id="15" name="trio text card"/>
          <p:cNvSpPr/>
          <p:nvPr/>
        </p:nvSpPr>
        <p:spPr>
          <a:xfrm>
            <a:off x="4937760" y="1188720"/>
            <a:ext cx="37490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5212080" y="14173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Sur beaucoup d'aérodromes, les trois services partagent un même local, le bureau de piste ou briefing office.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 France : les BRIA (Bureaux Régionaux d'Information et d'Assistance au vol).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Dans les pays de l'ASECNA : on parle couramment de « bureau de piste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pilote consulte NOTAM et météo, puis dépose son plan de vol.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À retenir</a:t>
            </a:r>
            <a:endParaRPr lang="en-US" sz="4000" dirty="0"/>
          </a:p>
        </p:txBody>
      </p:sp>
      <p:pic>
        <p:nvPicPr>
          <p:cNvPr id="3" name="key star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3017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L'ARO reçoit, vérifie et diffuse les plans de vol, puis suit leur clôture.</a:t>
            </a:r>
            <a:endParaRPr lang="en-US" sz="1600" dirty="0"/>
          </a:p>
        </p:txBody>
      </p:sp>
      <p:pic>
        <p:nvPicPr>
          <p:cNvPr id="5" name="key star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3566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L'AIS informe avant le vol et recueille les observations après le vol.</a:t>
            </a:r>
            <a:endParaRPr lang="en-US" sz="1600" dirty="0"/>
          </a:p>
        </p:txBody>
      </p:sp>
      <p:pic>
        <p:nvPicPr>
          <p:cNvPr id="7" name="key star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4114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plan de vol non clôturé déclenche les phases INCERFA, ALERFA puis DETRESFA.</a:t>
            </a:r>
            <a:endParaRPr lang="en-US" sz="16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ste de nuit">
  <a:themeElements>
    <a:clrScheme name="Piste de nuit">
      <a:dk1>
        <a:srgbClr val="1B2430"/>
      </a:dk1>
      <a:lt1>
        <a:srgbClr val="FFFFFF"/>
      </a:lt1>
      <a:dk2>
        <a:srgbClr val="2E3B4E"/>
      </a:dk2>
      <a:lt2>
        <a:srgbClr val="EEF1F5"/>
      </a:lt2>
      <a:accent1>
        <a:srgbClr val="F2A900"/>
      </a:accent1>
      <a:accent2>
        <a:srgbClr val="2E3B4E"/>
      </a:accent2>
      <a:accent3>
        <a:srgbClr val="5B7290"/>
      </a:accent3>
      <a:accent4>
        <a:srgbClr val="C0392B"/>
      </a:accent4>
      <a:accent5>
        <a:srgbClr val="E67E22"/>
      </a:accent5>
      <a:accent6>
        <a:srgbClr val="2E8B57"/>
      </a:accent6>
      <a:hlink>
        <a:srgbClr val="F2A900"/>
      </a:hlink>
      <a:folHlink>
        <a:srgbClr val="5B7290"/>
      </a:folHlink>
    </a:clrScheme>
    <a:fontScheme name="Piste de nu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Bureau de piste ATS et bureau d'information aéronautique</dc:title>
  <dc:subject>PptxGenJS Presentation</dc:subject>
  <dc:creator>Dylane</dc:creator>
  <cp:lastModifiedBy>Dylane</cp:lastModifiedBy>
  <cp:revision>1</cp:revision>
  <dcterms:created xsi:type="dcterms:W3CDTF">2026-10-12T11:54:03Z</dcterms:created>
  <dcterms:modified xsi:type="dcterms:W3CDTF">2026-10-12T11:54:03Z</dcterms:modified>
</cp:coreProperties>
</file>