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812641f-97b7-e3a0-7255-52da90fd8193}">
          <p14:sldIdLst>
            <p14:sldId id="256"/>
            <p14:sldId id="257"/>
            <p14:sldId id="258"/>
            <p14:sldId id="259"/>
          </p14:sldIdLst>
        </p14:section>
        <p14:section name="Le marketing de réseau dans le monde" id="{2fb04aac-de51-0ddc-8d22-e0185f2bbe86}">
          <p14:sldIdLst>
            <p14:sldId id="260"/>
            <p14:sldId id="261"/>
          </p14:sldIdLst>
        </p14:section>
        <p14:section name="Les 5 puissances" id="{ad5aedd8-8ae4-5106-8dd4-ce02ba491ba1}">
          <p14:sldIdLst>
            <p14:sldId id="262"/>
            <p14:sldId id="263"/>
            <p14:sldId id="264"/>
            <p14:sldId id="265"/>
            <p14:sldId id="266"/>
            <p14:sldId id="267"/>
          </p14:sldIdLst>
        </p14:section>
        <p14:section name="Le potentiel en Afrique" id="{9e874238-0290-4e7c-83a6-20e7a460e283}">
          <p14:sldIdLst>
            <p14:sldId id="268"/>
            <p14:sldId id="269"/>
            <p14:sldId id="270"/>
            <p14:sldId id="271"/>
          </p14:sldIdLst>
        </p14:section>
        <p14:section name="Conclusion" id="{8d29ea27-cd21-dfbd-a705-fdcf4c04a399}">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2200" b="0" i="0" u="none" strike="noStrike">
                <a:solidFill>
                  <a:srgbClr val="0F3B2E"/>
                </a:solidFill>
                <a:latin typeface="+mn-lt"/>
              </a:defRPr>
            </a:pPr>
            <a:r>
              <a:rPr sz="2200" b="0" i="0" u="none" strike="noStrike">
                <a:solidFill>
                  <a:srgbClr val="0F3B2E"/>
                </a:solidFill>
                <a:latin typeface="+mn-lt"/>
              </a:rPr>
              <a:t>Premiers marchés (Md $, ≈ 2023)</a:t>
            </a:r>
          </a:p>
        </c:rich>
      </c:tx>
      <c:layout/>
      <c:overlay val="0"/>
    </c:title>
    <c:autoTitleDeleted val="0"/>
    <c:plotArea>
      <c:layout/>
      <c:barChart>
        <c:barDir val="bar"/>
        <c:grouping val="clustered"/>
        <c:varyColors val="0"/>
        <c:ser>
          <c:idx val="0"/>
          <c:order val="0"/>
          <c:tx>
            <c:strRef>
              <c:f>Sheet1!$B$1</c:f>
              <c:strCache>
                <c:ptCount val="1"/>
                <c:pt idx="0">
                  <c:v>Ventes (Md $)</c:v>
                </c:pt>
              </c:strCache>
            </c:strRef>
          </c:tx>
          <c:spPr>
            <a:solidFill>
              <a:srgbClr val="1F7A5C"/>
            </a:solidFill>
            <a:effectLst/>
          </c:spPr>
          <c:invertIfNegative val="0"/>
          <c:dLbls>
            <c:numFmt formatCode="#,##0" sourceLinked="0"/>
            <c:txPr>
              <a:bodyPr/>
              <a:lstStyle/>
              <a:p>
                <a:pPr>
                  <a:defRPr b="0" i="0" strike="noStrike" sz="2000" u="none">
                    <a:solidFill>
                      <a:srgbClr val="1D2B26"/>
                    </a:solidFill>
                    <a:latin typeface="+mn-lt"/>
                  </a:defRPr>
                </a:pPr>
              </a:p>
            </c:txPr>
            <c:showLegendKey val="0"/>
            <c:showVal val="1"/>
            <c:showCatName val="0"/>
            <c:showSerName val="0"/>
            <c:showPercent val="0"/>
            <c:showBubbleSize val="0"/>
            <c:showLeaderLines val="0"/>
          </c:dLbls>
          <c:cat>
            <c:multiLvlStrRef>
              <c:f>Sheet1!$A$2:$A$7</c:f>
              <c:multiLvlStrCache>
                <c:ptCount val="6"/>
                <c:lvl>
                  <c:pt idx="0">
                    <c:v>États-Unis</c:v>
                  </c:pt>
                  <c:pt idx="1">
                    <c:v>Allemagne</c:v>
                  </c:pt>
                  <c:pt idx="2">
                    <c:v>Corée du Sud</c:v>
                  </c:pt>
                  <c:pt idx="3">
                    <c:v>Chine</c:v>
                  </c:pt>
                  <c:pt idx="4">
                    <c:v>Japon</c:v>
                  </c:pt>
                  <c:pt idx="5">
                    <c:v>Brésil</c:v>
                  </c:pt>
                </c:lvl>
              </c:multiLvlStrCache>
            </c:multiLvlStrRef>
          </c:cat>
          <c:val>
            <c:numRef>
              <c:f>Sheet1!$B$2:$B$7</c:f>
              <c:numCache>
                <c:formatCode>General</c:formatCode>
                <c:ptCount val="6"/>
                <c:pt idx="0">
                  <c:v>36</c:v>
                </c:pt>
                <c:pt idx="1">
                  <c:v>18</c:v>
                </c:pt>
                <c:pt idx="2">
                  <c:v>16</c:v>
                </c:pt>
                <c:pt idx="3">
                  <c:v>14</c:v>
                </c:pt>
                <c:pt idx="4">
                  <c:v>12</c:v>
                </c:pt>
                <c:pt idx="5">
                  <c:v>7</c:v>
                </c:pt>
              </c:numCache>
            </c:numRef>
          </c:val>
        </c:ser>
        <c:dLbls>
          <c:numFmt formatCode="#,##0" sourceLinked="0"/>
          <c:txPr>
            <a:bodyPr/>
            <a:lstStyle/>
            <a:p>
              <a:pPr>
                <a:defRPr b="0" i="0" strike="noStrike" sz="2000" u="none">
                  <a:solidFill>
                    <a:srgbClr val="1D2B2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2000" b="0" i="0" u="none" strike="noStrike">
                <a:solidFill>
                  <a:srgbClr val="1D2B2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2000" b="0" i="0" u="none" strike="noStrike">
                <a:solidFill>
                  <a:srgbClr val="4E61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2200" b="0" i="0" u="none" strike="noStrike">
                <a:solidFill>
                  <a:srgbClr val="0F3B2E"/>
                </a:solidFill>
                <a:latin typeface="+mn-lt"/>
              </a:defRPr>
            </a:pPr>
            <a:r>
              <a:rPr sz="2200" b="0" i="0" u="none" strike="noStrike">
                <a:solidFill>
                  <a:srgbClr val="0F3B2E"/>
                </a:solidFill>
                <a:latin typeface="+mn-lt"/>
              </a:rPr>
              <a:t>Part des ventes mondiales (%)</a:t>
            </a:r>
          </a:p>
        </c:rich>
      </c:tx>
      <c:layout/>
      <c:overlay val="0"/>
    </c:title>
    <c:autoTitleDeleted val="0"/>
    <c:plotArea>
      <c:layout/>
      <c:doughnutChart>
        <c:varyColors val="1"/>
        <c:ser>
          <c:idx val="0"/>
          <c:order val="0"/>
          <c:tx>
            <c:strRef>
              <c:f>Sheet1!$B$1</c:f>
              <c:strCache>
                <c:ptCount val="1"/>
                <c:pt idx="0">
                  <c:v>Part des ventes</c:v>
                </c:pt>
              </c:strCache>
            </c:strRef>
          </c:tx>
          <c:spPr>
            <a:solidFill>
              <a:schemeClr val="accent1"/>
            </a:solidFill>
            <a:ln w="9525" cap="flat">
              <a:solidFill>
                <a:srgbClr val="F9F9F9"/>
              </a:solidFill>
              <a:prstDash val="solid"/>
              <a:round/>
            </a:ln>
            <a:effectLst/>
          </c:spPr>
          <c:dPt>
            <c:idx val="0"/>
            <c:bubble3D val="0"/>
            <c:spPr>
              <a:solidFill>
                <a:srgbClr val="1F7A5C"/>
              </a:solidFill>
              <a:effectLst/>
            </c:spPr>
          </c:dPt>
          <c:dPt>
            <c:idx val="1"/>
            <c:bubble3D val="0"/>
            <c:spPr>
              <a:solidFill>
                <a:srgbClr val="3FA7A0"/>
              </a:solidFill>
              <a:effectLst/>
            </c:spPr>
          </c:dPt>
          <c:dPt>
            <c:idx val="2"/>
            <c:bubble3D val="0"/>
            <c:spPr>
              <a:solidFill>
                <a:srgbClr val="4E6159"/>
              </a:solidFill>
              <a:effectLst/>
            </c:spPr>
          </c:dPt>
          <c:dPt>
            <c:idx val="3"/>
            <c:bubble3D val="0"/>
            <c:spPr>
              <a:solidFill>
                <a:srgbClr val="D9622B"/>
              </a:solidFill>
              <a:effectLst/>
            </c:spPr>
          </c:dPt>
          <c:dLbls>
            <c:dLbl>
              <c:idx val="0"/>
              <c:numFmt formatCode="0%" sourceLinked="0"/>
              <c:spPr/>
              <c:txPr>
                <a:bodyPr/>
                <a:lstStyle/>
                <a:p>
                  <a:pPr>
                    <a:defRPr sz="20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20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20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20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Asie-Pacifique</c:v>
                </c:pt>
                <c:pt idx="1">
                  <c:v>Amériques</c:v>
                </c:pt>
                <c:pt idx="2">
                  <c:v>Europe</c:v>
                </c:pt>
                <c:pt idx="3">
                  <c:v>Afrique &amp; M.-O.</c:v>
                </c:pt>
              </c:strCache>
            </c:strRef>
          </c:cat>
          <c:val>
            <c:numRef>
              <c:f>Sheet1!$B$2:$B$5</c:f>
              <c:numCache>
                <c:ptCount val="4"/>
                <c:pt idx="0">
                  <c:v>42</c:v>
                </c:pt>
                <c:pt idx="1">
                  <c:v>34</c:v>
                </c:pt>
                <c:pt idx="2">
                  <c:v>21</c:v>
                </c:pt>
                <c:pt idx="3">
                  <c:v>3</c:v>
                </c:pt>
              </c:numCache>
            </c:numRef>
          </c:val>
        </c:ser>
        <c:firstSliceAng val="0"/>
        <c:holeSize val="40"/>
      </c:doughnutChart>
      <c:spPr>
        <a:noFill/>
        <a:ln>
          <a:noFill/>
        </a:ln>
        <a:effectLst/>
      </c:spPr>
    </c:plotArea>
    <c:legend>
      <c:legendPos val="b"/>
      <c:overlay val="0"/>
      <c:txPr>
        <a:bodyPr/>
        <a:lstStyle/>
        <a:p>
          <a:pPr>
            <a:defRPr sz="20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2200" b="0" i="0" u="none" strike="noStrike">
                <a:solidFill>
                  <a:srgbClr val="0F3B2E"/>
                </a:solidFill>
                <a:latin typeface="+mn-lt"/>
              </a:defRPr>
            </a:pPr>
            <a:r>
              <a:rPr sz="2200" b="0" i="0" u="none" strike="noStrike">
                <a:solidFill>
                  <a:srgbClr val="0F3B2E"/>
                </a:solidFill>
                <a:latin typeface="+mn-lt"/>
              </a:rPr>
              <a:t>Illustration : effort cumulé dans le temps</a:t>
            </a:r>
          </a:p>
        </c:rich>
      </c:tx>
      <c:layout/>
      <c:overlay val="0"/>
    </c:title>
    <c:autoTitleDeleted val="0"/>
    <c:plotArea>
      <c:layout/>
      <c:lineChart>
        <c:varyColors val="0"/>
        <c:ser>
          <c:idx val="0"/>
          <c:order val="0"/>
          <c:tx>
            <c:strRef>
              <c:f>Sheet1!$B$1</c:f>
              <c:strCache>
                <c:ptCount val="1"/>
                <c:pt idx="0">
                  <c:v>Motivation</c:v>
                </c:pt>
              </c:strCache>
            </c:strRef>
          </c:tx>
          <c:spPr>
            <a:solidFill>
              <a:srgbClr val="D9622B"/>
            </a:solidFill>
            <a:ln w="50800" cap="flat">
              <a:solidFill>
                <a:srgbClr val="D9622B"/>
              </a:solidFill>
              <a:prstDash val="solid"/>
              <a:round/>
            </a:ln>
            <a:effectLst/>
          </c:spPr>
          <c:invertIfNegative val="0"/>
          <c:dLbls>
            <c:numFmt formatCode="#,##0" sourceLinked="0"/>
            <c:txPr>
              <a:bodyPr/>
              <a:lstStyle/>
              <a:p>
                <a:pPr>
                  <a:defRPr b="0" i="0" strike="noStrike" sz="2000" u="none">
                    <a:solidFill>
                      <a:srgbClr val="1D2B26"/>
                    </a:solidFill>
                    <a:latin typeface="+mn-lt"/>
                  </a:defRPr>
                </a:pPr>
              </a:p>
            </c:txPr>
            <c:showLegendKey val="0"/>
            <c:showVal val="0"/>
            <c:showCatName val="0"/>
            <c:showSerName val="0"/>
            <c:showPercent val="0"/>
            <c:showBubbleSize val="0"/>
            <c:showLeaderLines val="0"/>
          </c:dLbls>
          <c:marker>
            <c:symbol val="none"/>
            <c:size val="6"/>
            <c:spPr>
              <a:solidFill>
                <a:srgbClr val="D9622B"/>
              </a:solidFill>
              <a:ln w="9525" cap="flat">
                <a:solidFill>
                  <a:srgbClr val="D9622B"/>
                </a:solidFill>
                <a:prstDash val="solid"/>
                <a:round/>
              </a:ln>
              <a:effectLst/>
            </c:spPr>
          </c:marker>
          <c:cat>
            <c:multiLvlStrRef>
              <c:f>Sheet1!$A$2:$A$8</c:f>
              <c:multiLvlStrCache>
                <c:ptCount val="7"/>
                <c:lvl>
                  <c:pt idx="0">
                    <c:v>M1</c:v>
                  </c:pt>
                  <c:pt idx="1">
                    <c:v>M3</c:v>
                  </c:pt>
                  <c:pt idx="2">
                    <c:v>M6</c:v>
                  </c:pt>
                  <c:pt idx="3">
                    <c:v>M9</c:v>
                  </c:pt>
                  <c:pt idx="4">
                    <c:v>M12</c:v>
                  </c:pt>
                  <c:pt idx="5">
                    <c:v>M18</c:v>
                  </c:pt>
                  <c:pt idx="6">
                    <c:v>M24</c:v>
                  </c:pt>
                </c:lvl>
              </c:multiLvlStrCache>
            </c:multiLvlStrRef>
          </c:cat>
          <c:val>
            <c:numRef>
              <c:f>Sheet1!$B$2:$B$8</c:f>
              <c:numCache>
                <c:formatCode>General</c:formatCode>
                <c:ptCount val="7"/>
                <c:pt idx="0">
                  <c:v>9</c:v>
                </c:pt>
                <c:pt idx="1">
                  <c:v>4</c:v>
                </c:pt>
                <c:pt idx="2">
                  <c:v>8</c:v>
                </c:pt>
                <c:pt idx="3">
                  <c:v>3</c:v>
                </c:pt>
                <c:pt idx="4">
                  <c:v>7</c:v>
                </c:pt>
                <c:pt idx="5">
                  <c:v>4</c:v>
                </c:pt>
                <c:pt idx="6">
                  <c:v>6</c:v>
                </c:pt>
              </c:numCache>
            </c:numRef>
          </c:val>
          <c:smooth val="1"/>
        </c:ser>
        <c:ser>
          <c:idx val="1"/>
          <c:order val="1"/>
          <c:tx>
            <c:strRef>
              <c:f>Sheet1!$C$1</c:f>
              <c:strCache>
                <c:ptCount val="1"/>
                <c:pt idx="0">
                  <c:v>Résultats avec constance</c:v>
                </c:pt>
              </c:strCache>
            </c:strRef>
          </c:tx>
          <c:spPr>
            <a:solidFill>
              <a:srgbClr val="1F7A5C"/>
            </a:solidFill>
            <a:ln w="50800" cap="flat">
              <a:solidFill>
                <a:srgbClr val="1F7A5C"/>
              </a:solidFill>
              <a:prstDash val="solid"/>
              <a:round/>
            </a:ln>
            <a:effectLst/>
          </c:spPr>
          <c:invertIfNegative val="0"/>
          <c:dLbls>
            <c:numFmt formatCode="#,##0" sourceLinked="0"/>
            <c:txPr>
              <a:bodyPr/>
              <a:lstStyle/>
              <a:p>
                <a:pPr>
                  <a:defRPr b="0" i="0" strike="noStrike" sz="2000" u="none">
                    <a:solidFill>
                      <a:srgbClr val="1D2B26"/>
                    </a:solidFill>
                    <a:latin typeface="+mn-lt"/>
                  </a:defRPr>
                </a:pPr>
              </a:p>
            </c:txPr>
            <c:showLegendKey val="0"/>
            <c:showVal val="0"/>
            <c:showCatName val="0"/>
            <c:showSerName val="0"/>
            <c:showPercent val="0"/>
            <c:showBubbleSize val="0"/>
            <c:showLeaderLines val="0"/>
          </c:dLbls>
          <c:marker>
            <c:symbol val="none"/>
            <c:size val="6"/>
            <c:spPr>
              <a:solidFill>
                <a:srgbClr val="1F7A5C"/>
              </a:solidFill>
              <a:ln w="9525" cap="flat">
                <a:solidFill>
                  <a:srgbClr val="1F7A5C"/>
                </a:solidFill>
                <a:prstDash val="solid"/>
                <a:round/>
              </a:ln>
              <a:effectLst/>
            </c:spPr>
          </c:marker>
          <c:cat>
            <c:multiLvlStrRef>
              <c:f>Sheet1!$A$2:$A$8</c:f>
              <c:multiLvlStrCache>
                <c:ptCount val="7"/>
                <c:lvl>
                  <c:pt idx="0">
                    <c:v>M1</c:v>
                  </c:pt>
                  <c:pt idx="1">
                    <c:v>M3</c:v>
                  </c:pt>
                  <c:pt idx="2">
                    <c:v>M6</c:v>
                  </c:pt>
                  <c:pt idx="3">
                    <c:v>M9</c:v>
                  </c:pt>
                  <c:pt idx="4">
                    <c:v>M12</c:v>
                  </c:pt>
                  <c:pt idx="5">
                    <c:v>M18</c:v>
                  </c:pt>
                  <c:pt idx="6">
                    <c:v>M24</c:v>
                  </c:pt>
                </c:lvl>
              </c:multiLvlStrCache>
            </c:multiLvlStrRef>
          </c:cat>
          <c:val>
            <c:numRef>
              <c:f>Sheet1!$C$2:$C$8</c:f>
              <c:numCache>
                <c:formatCode>General</c:formatCode>
                <c:ptCount val="7"/>
                <c:pt idx="0">
                  <c:v>0.5</c:v>
                </c:pt>
                <c:pt idx="1">
                  <c:v>1</c:v>
                </c:pt>
                <c:pt idx="2">
                  <c:v>2</c:v>
                </c:pt>
                <c:pt idx="3">
                  <c:v>3.5</c:v>
                </c:pt>
                <c:pt idx="4">
                  <c:v>5</c:v>
                </c:pt>
                <c:pt idx="5">
                  <c:v>7.5</c:v>
                </c:pt>
                <c:pt idx="6">
                  <c:v>10</c:v>
                </c:pt>
              </c:numCache>
            </c:numRef>
          </c:val>
          <c:smooth val="1"/>
        </c:ser>
        <c:dLbls>
          <c:numFmt formatCode="#,##0" sourceLinked="0"/>
          <c:txPr>
            <a:bodyPr/>
            <a:lstStyle/>
            <a:p>
              <a:pPr>
                <a:defRPr b="0" i="0" strike="noStrike" sz="2000" u="none">
                  <a:solidFill>
                    <a:srgbClr val="1D2B26"/>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D2B26"/>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2000" b="0" i="0" u="none" strike="noStrike">
                <a:solidFill>
                  <a:srgbClr val="4E61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20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2200" b="0" i="0" u="none" strike="noStrike">
                <a:solidFill>
                  <a:srgbClr val="0F3B2E"/>
                </a:solidFill>
                <a:latin typeface="+mn-lt"/>
              </a:defRPr>
            </a:pPr>
            <a:r>
              <a:rPr sz="2200" b="0" i="0" u="none" strike="noStrike">
                <a:solidFill>
                  <a:srgbClr val="0F3B2E"/>
                </a:solidFill>
                <a:latin typeface="+mn-lt"/>
              </a:rPr>
              <a:t>Population de l'Afrique (milliards)</a:t>
            </a:r>
          </a:p>
        </c:rich>
      </c:tx>
      <c:layout/>
      <c:overlay val="0"/>
    </c:title>
    <c:autoTitleDeleted val="0"/>
    <c:plotArea>
      <c:layout/>
      <c:barChart>
        <c:barDir val="col"/>
        <c:grouping val="clustered"/>
        <c:varyColors val="0"/>
        <c:ser>
          <c:idx val="0"/>
          <c:order val="0"/>
          <c:tx>
            <c:strRef>
              <c:f>Sheet1!$B$1</c:f>
              <c:strCache>
                <c:ptCount val="1"/>
                <c:pt idx="0">
                  <c:v>Population (milliards)</c:v>
                </c:pt>
              </c:strCache>
            </c:strRef>
          </c:tx>
          <c:spPr>
            <a:solidFill>
              <a:srgbClr val="D9622B"/>
            </a:solidFill>
            <a:effectLst/>
          </c:spPr>
          <c:invertIfNegative val="0"/>
          <c:dLbls>
            <c:numFmt formatCode="0.0" sourceLinked="0"/>
            <c:txPr>
              <a:bodyPr/>
              <a:lstStyle/>
              <a:p>
                <a:pPr>
                  <a:defRPr b="0" i="0" strike="noStrike" sz="2000" u="none">
                    <a:solidFill>
                      <a:srgbClr val="1D2B26"/>
                    </a:solidFill>
                    <a:latin typeface="+mn-lt"/>
                  </a:defRPr>
                </a:pPr>
              </a:p>
            </c:txPr>
            <c:showLegendKey val="0"/>
            <c:showVal val="1"/>
            <c:showCatName val="0"/>
            <c:showSerName val="0"/>
            <c:showPercent val="0"/>
            <c:showBubbleSize val="0"/>
            <c:showLeaderLines val="0"/>
          </c:dLbls>
          <c:cat>
            <c:multiLvlStrRef>
              <c:f>Sheet1!$A$2:$A$4</c:f>
              <c:multiLvlStrCache>
                <c:ptCount val="3"/>
                <c:lvl>
                  <c:pt idx="0">
                    <c:v>2000</c:v>
                  </c:pt>
                  <c:pt idx="1">
                    <c:v>2025</c:v>
                  </c:pt>
                  <c:pt idx="2">
                    <c:v>2050</c:v>
                  </c:pt>
                </c:lvl>
              </c:multiLvlStrCache>
            </c:multiLvlStrRef>
          </c:cat>
          <c:val>
            <c:numRef>
              <c:f>Sheet1!$B$2:$B$4</c:f>
              <c:numCache>
                <c:formatCode>General</c:formatCode>
                <c:ptCount val="3"/>
                <c:pt idx="0">
                  <c:v>0.8</c:v>
                </c:pt>
                <c:pt idx="1">
                  <c:v>1.5</c:v>
                </c:pt>
                <c:pt idx="2">
                  <c:v>2.5</c:v>
                </c:pt>
              </c:numCache>
            </c:numRef>
          </c:val>
        </c:ser>
        <c:dLbls>
          <c:numFmt formatCode="0.0" sourceLinked="0"/>
          <c:txPr>
            <a:bodyPr/>
            <a:lstStyle/>
            <a:p>
              <a:pPr>
                <a:defRPr b="0" i="0" strike="noStrike" sz="2000" u="none">
                  <a:solidFill>
                    <a:srgbClr val="1D2B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D2B26"/>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2000" b="0" i="0" u="none" strike="noStrike">
                <a:solidFill>
                  <a:srgbClr val="4E61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Aujourd'hui, nous allons découvrir les cinq puissances du marketing de réseau, puis regarder les chiffres dans le monde et le potentiel immense de l'Afrique.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Laisser la question résonner quelques secondes avant de continuer.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secteur de la vente directe réalise environ 165 milliards de dollars de ventes par an et rassemble plus de 100 millions de vendeurs indépendants. Environ trois vendeurs sur quatre sont des femmes. Chiffres WFDSA arrondis : vérifier la dernière édition du rapport annuel avant une présentation officielle.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Valeurs approximatives et arrondies (WFDSA, associations nationales). L'essentiel : l'Asie, les Amériques et l'Europe réalisent presque toutes les ventes. L'Afrique, avec près d'un habitant de la planète sur cinq, ne pèse qu'environ 3 % : c'est là que se trouve le potentiel de croissance.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simple : si je connais 100 personnes et que chacune connaît 100 personnes, mon potentiel de connexion devient beaucoup plus important que mon carnet d'adresses personnel.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Nations Unies, World Population Prospects 2024 ; Organisation internationale du travail (OIT) pour l'emploi informel. Chiffres arrondis.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ONU (population), GSMA State of the Industry Report on Mobile Money (comptes mobile money), Secrétariat de la ZLECAf, Global Entrepreneurship Monitor (entrepreneuriat). Chiffres arrondis.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L'Afrique représente environ 18 % de la population mondiale, mais la région Afrique et Moyen-Orient ne pèse qu'environ 3 % des ventes mondiales de vente directe. Cet écart est le signe d'un marché encore très peu exploité.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0F3B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5486400" cy="23774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4114800"/>
            <a:ext cx="5120640" cy="1645920"/>
          </a:xfrm>
          <a:prstGeom prst="rect">
            <a:avLst/>
          </a:prstGeom>
          <a:noFill/>
          <a:ln/>
        </p:spPr>
        <p:txBody>
          <a:bodyPr wrap="square" rtlCol="0"/>
          <a:lstStyle>
            <a:lvl1pPr algn="l" indent="0" marL="0">
              <a:buNone/>
              <a:defRPr lang="en-US" sz="2400" dirty="0">
                <a:solidFill>
                  <a:schemeClr val="accent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OMBRE">
    <p:bg>
      <p:bgPr>
        <a:solidFill>
          <a:srgbClr val="0F3B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image" Target="../media/image-6-1.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llustration réseau" descr="Réseau de personnes reliées entre elles">    </p:cNvPr>
          <p:cNvPicPr>
            <a:picLocks noChangeAspect="1"/>
          </p:cNvPicPr>
          <p:nvPr/>
        </p:nvPicPr>
        <p:blipFill>
          <a:blip r:embed="rId1"/>
          <a:stretch>
            <a:fillRect/>
          </a:stretch>
        </p:blipFill>
        <p:spPr>
          <a:xfrm>
            <a:off x="5760720" y="0"/>
            <a:ext cx="6430975" cy="6858000"/>
          </a:xfrm>
          <a:prstGeom prst="rect">
            <a:avLst/>
          </a:prstGeom>
        </p:spPr>
      </p:pic>
      <p:sp>
        <p:nvSpPr>
          <p:cNvPr id="3" name="Text 0"/>
          <p:cNvSpPr/>
          <p:nvPr>
            <p:ph idx="100" type="title" hasCustomPrompt="1"/>
          </p:nvPr>
        </p:nvSpPr>
        <p:spPr>
          <a:xfrm>
            <a:off x="548640" y="1463040"/>
            <a:ext cx="5486400" cy="2377440"/>
          </a:xfrm>
          <a:prstGeom prst="rect">
            <a:avLst/>
          </a:prstGeom>
          <a:noFill/>
          <a:ln/>
        </p:spPr>
        <p:txBody>
          <a:bodyPr wrap="square" lIns="0" tIns="0" rIns="0" bIns="0" rtlCol="0" anchor="b"/>
          <a:lstStyle/>
          <a:p>
            <a:pPr algn="l" indent="0" marL="0">
              <a:buNone/>
            </a:pPr>
            <a:r>
              <a:rPr lang="en-US" sz="4800" b="1" dirty="0">
                <a:solidFill>
                  <a:schemeClr val="bg1"/>
                </a:solidFill>
              </a:rPr>
              <a:t>La puissance du Marketing de Réseau</a:t>
            </a:r>
            <a:endParaRPr lang="en-US" sz="4800" dirty="0"/>
          </a:p>
        </p:txBody>
      </p:sp>
      <p:sp>
        <p:nvSpPr>
          <p:cNvPr id="4" name="Text 0"/>
          <p:cNvSpPr/>
          <p:nvPr>
            <p:ph idx="101" type="body" hasCustomPrompt="1"/>
          </p:nvPr>
        </p:nvSpPr>
        <p:spPr>
          <a:xfrm>
            <a:off x="548640" y="4114800"/>
            <a:ext cx="5120640" cy="1645920"/>
          </a:xfrm>
          <a:prstGeom prst="rect">
            <a:avLst/>
          </a:prstGeom>
          <a:noFill/>
          <a:ln/>
        </p:spPr>
        <p:txBody>
          <a:bodyPr wrap="square" lIns="0" tIns="0" rIns="0" bIns="0" rtlCol="0" anchor="t"/>
          <a:lstStyle/>
          <a:p>
            <a:pPr algn="l" indent="0" marL="0">
              <a:buNone/>
            </a:pPr>
            <a:r>
              <a:rPr lang="en-US" sz="2400" dirty="0">
                <a:solidFill>
                  <a:schemeClr val="accent1"/>
                </a:solidFill>
              </a:rPr>
              <a:t>Réseau humain · Duplication · Équipe · Développement personnel · Constance</a:t>
            </a:r>
            <a:endParaRPr lang="en-US" sz="2400" dirty="0"/>
          </a:p>
          <a:p>
            <a:pPr algn="l" indent="0" marL="0">
              <a:buNone/>
            </a:pPr>
            <a:r>
              <a:rPr lang="en-US" sz="2400" dirty="0">
                <a:solidFill>
                  <a:schemeClr val="accent1"/>
                </a:solidFill>
              </a:rPr>
              <a:t>Chiffres mondiaux et potentiel en Afrique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Une question pour commencer</a:t>
            </a:r>
            <a:endParaRPr lang="en-US" sz="3600" dirty="0"/>
          </a:p>
        </p:txBody>
      </p:sp>
      <p:sp>
        <p:nvSpPr>
          <p:cNvPr id="3" name="Question cercle"/>
          <p:cNvSpPr/>
          <p:nvPr/>
        </p:nvSpPr>
        <p:spPr>
          <a:xfrm>
            <a:off x="548640" y="1645920"/>
            <a:ext cx="1463040" cy="1463040"/>
          </a:xfrm>
          <a:prstGeom prst="ellipse">
            <a:avLst/>
          </a:prstGeom>
          <a:solidFill>
            <a:schemeClr val="accent1"/>
          </a:solidFill>
          <a:ln/>
        </p:spPr>
      </p:sp>
      <p:pic>
        <p:nvPicPr>
          <p:cNvPr id="4" name="Question icône" descr="Question">    </p:cNvPr>
          <p:cNvPicPr>
            <a:picLocks noChangeAspect="1"/>
          </p:cNvPicPr>
          <p:nvPr/>
        </p:nvPicPr>
        <p:blipFill>
          <a:blip r:embed="rId1"/>
          <a:stretch>
            <a:fillRect/>
          </a:stretch>
        </p:blipFill>
        <p:spPr>
          <a:xfrm>
            <a:off x="929030" y="2026310"/>
            <a:ext cx="702259" cy="702259"/>
          </a:xfrm>
          <a:prstGeom prst="rect">
            <a:avLst/>
          </a:prstGeom>
        </p:spPr>
      </p:pic>
      <p:sp>
        <p:nvSpPr>
          <p:cNvPr id="5" name="Text 2"/>
          <p:cNvSpPr txBox="1"/>
          <p:nvPr/>
        </p:nvSpPr>
        <p:spPr>
          <a:xfrm>
            <a:off x="2468880" y="1554480"/>
            <a:ext cx="9144000" cy="2377440"/>
          </a:xfrm>
          <a:prstGeom prst="rect">
            <a:avLst/>
          </a:prstGeom>
          <a:noFill/>
          <a:ln/>
        </p:spPr>
        <p:txBody>
          <a:bodyPr wrap="square" lIns="0" tIns="0" rIns="0" bIns="0" rtlCol="0" anchor="t"/>
          <a:lstStyle/>
          <a:p>
            <a:pPr indent="0" marL="0">
              <a:buNone/>
            </a:pPr>
            <a:r>
              <a:rPr lang="en-US" sz="2800" i="1" dirty="0">
                <a:solidFill>
                  <a:schemeClr val="bg1"/>
                </a:solidFill>
                <a:latin typeface="Cambria" pitchFamily="34" charset="0"/>
                <a:ea typeface="Cambria" pitchFamily="34" charset="-122"/>
                <a:cs typeface="Cambria" pitchFamily="34" charset="-120"/>
              </a:rPr>
              <a:t>« Pourquoi certaines personnes travaillent pendant des années uniquement pour leur salaire, tandis que d'autres construisent progressivement un système qui continue à produire des revenus grâce à leur réseau et à leur clientèle ? »</a:t>
            </a:r>
            <a:endParaRPr lang="en-US" sz="2800" dirty="0"/>
          </a:p>
        </p:txBody>
      </p:sp>
      <p:sp>
        <p:nvSpPr>
          <p:cNvPr id="6" name="Encadré modèle"/>
          <p:cNvSpPr/>
          <p:nvPr/>
        </p:nvSpPr>
        <p:spPr>
          <a:xfrm>
            <a:off x="2468880" y="4297680"/>
            <a:ext cx="9144000" cy="1645920"/>
          </a:xfrm>
          <a:prstGeom prst="roundRect">
            <a:avLst>
              <a:gd name="adj" fmla="val 6667"/>
            </a:avLst>
          </a:prstGeom>
          <a:solidFill>
            <a:schemeClr val="accent3"/>
          </a:solidFill>
          <a:ln/>
        </p:spPr>
      </p:sp>
      <p:sp>
        <p:nvSpPr>
          <p:cNvPr id="7" name="Text 4"/>
          <p:cNvSpPr txBox="1"/>
          <p:nvPr/>
        </p:nvSpPr>
        <p:spPr>
          <a:xfrm>
            <a:off x="2743200" y="4434840"/>
            <a:ext cx="8595360" cy="1371600"/>
          </a:xfrm>
          <a:prstGeom prst="rect">
            <a:avLst/>
          </a:prstGeom>
          <a:noFill/>
          <a:ln/>
        </p:spPr>
        <p:txBody>
          <a:bodyPr wrap="square" lIns="0" tIns="0" rIns="0" bIns="0" rtlCol="0" anchor="ctr"/>
          <a:lstStyle/>
          <a:p>
            <a:pPr indent="0" marL="0">
              <a:buNone/>
            </a:pPr>
            <a:r>
              <a:rPr lang="en-US" sz="2400" dirty="0">
                <a:solidFill>
                  <a:schemeClr val="bg1"/>
                </a:solidFill>
              </a:rPr>
              <a:t>Un modèle qui repose sur ce que nous avons tous : nos relations, notre capacité à communiquer, à recommander et à développer une communauté.</a:t>
            </a:r>
            <a:endParaRPr lang="en-US" sz="24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Qu'est-ce que le marketing de réseau ?</a:t>
            </a:r>
            <a:endParaRPr lang="en-US" sz="3600" dirty="0"/>
          </a:p>
        </p:txBody>
      </p:sp>
      <p:sp>
        <p:nvSpPr>
          <p:cNvPr id="3" name="Text 1"/>
          <p:cNvSpPr txBox="1"/>
          <p:nvPr/>
        </p:nvSpPr>
        <p:spPr>
          <a:xfrm>
            <a:off x="548640" y="1554480"/>
            <a:ext cx="4937760" cy="4389120"/>
          </a:xfrm>
          <a:prstGeom prst="rect">
            <a:avLst/>
          </a:prstGeom>
          <a:noFill/>
          <a:ln/>
        </p:spPr>
        <p:txBody>
          <a:bodyPr wrap="square" lIns="0" tIns="0" rIns="0" bIns="0" rtlCol="0" anchor="t"/>
          <a:lstStyle/>
          <a:p>
            <a:pPr indent="0" marL="0">
              <a:buNone/>
            </a:pPr>
            <a:r>
              <a:rPr lang="en-US" sz="2400" b="1" dirty="0">
                <a:solidFill>
                  <a:schemeClr val="tx2"/>
                </a:solidFill>
              </a:rPr>
              <a:t>Un modèle de distribution</a:t>
            </a:r>
            <a:endParaRPr lang="en-US" sz="2400" dirty="0"/>
          </a:p>
          <a:p>
            <a:pPr indent="0" marL="0">
              <a:buNone/>
            </a:pPr>
            <a:r>
              <a:rPr lang="en-US" sz="2400" dirty="0">
                <a:solidFill>
                  <a:schemeClr val="tx1"/>
                </a:solidFill>
              </a:rPr>
              <a:t>L'entreprise vend ses produits ou services directement aux consommateurs, par l'intermédiaire de distributeurs indépendants.</a:t>
            </a:r>
            <a:endParaRPr lang="en-US" sz="2400" dirty="0"/>
          </a:p>
          <a:p>
            <a:pPr indent="0" marL="0">
              <a:buNone/>
            </a:pPr>
            <a:r>
              <a:rPr lang="en-US" sz="2400" dirty="0">
                <a:solidFill>
                  <a:schemeClr val="tx1"/>
                </a:solidFill>
              </a:rPr>
              <a:t> </a:t>
            </a:r>
            <a:endParaRPr lang="en-US" sz="2400" dirty="0"/>
          </a:p>
          <a:p>
            <a:pPr indent="0" marL="0">
              <a:buNone/>
            </a:pPr>
            <a:r>
              <a:rPr lang="en-US" sz="2400" dirty="0">
                <a:solidFill>
                  <a:schemeClr val="accent6"/>
                </a:solidFill>
              </a:rPr>
              <a:t>On l'appelle aussi MLM (Multi-Level Marketing) ou vente directe multiniveau.</a:t>
            </a:r>
            <a:endParaRPr lang="en-US" sz="2400" dirty="0"/>
          </a:p>
        </p:txBody>
      </p:sp>
      <p:sp>
        <p:nvSpPr>
          <p:cNvPr id="4" name="Text 2"/>
          <p:cNvSpPr txBox="1"/>
          <p:nvPr/>
        </p:nvSpPr>
        <p:spPr>
          <a:xfrm>
            <a:off x="6035040" y="1463040"/>
            <a:ext cx="5577840" cy="822960"/>
          </a:xfrm>
          <a:prstGeom prst="rect">
            <a:avLst/>
          </a:prstGeom>
          <a:noFill/>
          <a:ln/>
        </p:spPr>
        <p:txBody>
          <a:bodyPr wrap="square" lIns="0" tIns="0" rIns="0" bIns="0" rtlCol="0" anchor="t"/>
          <a:lstStyle/>
          <a:p>
            <a:pPr indent="0" marL="0">
              <a:buNone/>
            </a:pPr>
            <a:r>
              <a:rPr lang="en-US" sz="2200" b="1" dirty="0">
                <a:solidFill>
                  <a:schemeClr val="accent2"/>
                </a:solidFill>
              </a:rPr>
              <a:t>Important : ce n'est pas « recruter des gens ». La vraie base :</a:t>
            </a:r>
            <a:endParaRPr lang="en-US" sz="2200" dirty="0"/>
          </a:p>
        </p:txBody>
      </p:sp>
      <p:sp>
        <p:nvSpPr>
          <p:cNvPr id="5" name="Carte Le produit"/>
          <p:cNvSpPr/>
          <p:nvPr/>
        </p:nvSpPr>
        <p:spPr>
          <a:xfrm>
            <a:off x="6035040" y="2423160"/>
            <a:ext cx="2697480" cy="1691640"/>
          </a:xfrm>
          <a:prstGeom prst="roundRect">
            <a:avLst>
              <a:gd name="adj" fmla="val 6486"/>
            </a:avLst>
          </a:prstGeom>
          <a:solidFill>
            <a:schemeClr val="bg2"/>
          </a:solidFill>
          <a:ln/>
        </p:spPr>
      </p:sp>
      <p:sp>
        <p:nvSpPr>
          <p:cNvPr id="6" name="Le produit cercle"/>
          <p:cNvSpPr/>
          <p:nvPr/>
        </p:nvSpPr>
        <p:spPr>
          <a:xfrm>
            <a:off x="6263640" y="2651760"/>
            <a:ext cx="731520" cy="731520"/>
          </a:xfrm>
          <a:prstGeom prst="ellipse">
            <a:avLst/>
          </a:prstGeom>
          <a:solidFill>
            <a:schemeClr val="accent3"/>
          </a:solidFill>
          <a:ln/>
        </p:spPr>
      </p:sp>
      <p:pic>
        <p:nvPicPr>
          <p:cNvPr id="7" name="Le produit icône" descr="Le produit">    </p:cNvPr>
          <p:cNvPicPr>
            <a:picLocks noChangeAspect="1"/>
          </p:cNvPicPr>
          <p:nvPr/>
        </p:nvPicPr>
        <p:blipFill>
          <a:blip r:embed="rId1"/>
          <a:stretch>
            <a:fillRect/>
          </a:stretch>
        </p:blipFill>
        <p:spPr>
          <a:xfrm>
            <a:off x="6453835" y="2841955"/>
            <a:ext cx="351130" cy="351130"/>
          </a:xfrm>
          <a:prstGeom prst="rect">
            <a:avLst/>
          </a:prstGeom>
        </p:spPr>
      </p:pic>
      <p:sp>
        <p:nvSpPr>
          <p:cNvPr id="8" name="Text 5"/>
          <p:cNvSpPr txBox="1"/>
          <p:nvPr/>
        </p:nvSpPr>
        <p:spPr>
          <a:xfrm>
            <a:off x="6263640" y="3447288"/>
            <a:ext cx="2286000" cy="594360"/>
          </a:xfrm>
          <a:prstGeom prst="rect">
            <a:avLst/>
          </a:prstGeom>
          <a:noFill/>
          <a:ln/>
        </p:spPr>
        <p:txBody>
          <a:bodyPr wrap="square" lIns="0" tIns="0" rIns="0" bIns="0" rtlCol="0" anchor="ctr"/>
          <a:lstStyle/>
          <a:p>
            <a:pPr indent="0" marL="0">
              <a:buNone/>
            </a:pPr>
            <a:r>
              <a:rPr lang="en-US" sz="2100" b="1" dirty="0">
                <a:solidFill>
                  <a:schemeClr val="tx2"/>
                </a:solidFill>
              </a:rPr>
              <a:t>Le produit</a:t>
            </a:r>
            <a:endParaRPr lang="en-US" sz="2100" dirty="0"/>
          </a:p>
        </p:txBody>
      </p:sp>
      <p:sp>
        <p:nvSpPr>
          <p:cNvPr id="9" name="Carte La clientèle"/>
          <p:cNvSpPr/>
          <p:nvPr/>
        </p:nvSpPr>
        <p:spPr>
          <a:xfrm>
            <a:off x="8915400" y="2423160"/>
            <a:ext cx="2697480" cy="1691640"/>
          </a:xfrm>
          <a:prstGeom prst="roundRect">
            <a:avLst>
              <a:gd name="adj" fmla="val 6486"/>
            </a:avLst>
          </a:prstGeom>
          <a:solidFill>
            <a:schemeClr val="bg2"/>
          </a:solidFill>
          <a:ln/>
        </p:spPr>
      </p:sp>
      <p:sp>
        <p:nvSpPr>
          <p:cNvPr id="10" name="La clientèle cercle"/>
          <p:cNvSpPr/>
          <p:nvPr/>
        </p:nvSpPr>
        <p:spPr>
          <a:xfrm>
            <a:off x="9144000" y="2651760"/>
            <a:ext cx="731520" cy="731520"/>
          </a:xfrm>
          <a:prstGeom prst="ellipse">
            <a:avLst/>
          </a:prstGeom>
          <a:solidFill>
            <a:schemeClr val="accent3"/>
          </a:solidFill>
          <a:ln/>
        </p:spPr>
      </p:sp>
      <p:pic>
        <p:nvPicPr>
          <p:cNvPr id="11" name="La clientèle icône" descr="La clientèle">    </p:cNvPr>
          <p:cNvPicPr>
            <a:picLocks noChangeAspect="1"/>
          </p:cNvPicPr>
          <p:nvPr/>
        </p:nvPicPr>
        <p:blipFill>
          <a:blip r:embed="rId2"/>
          <a:stretch>
            <a:fillRect/>
          </a:stretch>
        </p:blipFill>
        <p:spPr>
          <a:xfrm>
            <a:off x="9334195" y="2841955"/>
            <a:ext cx="351130" cy="351130"/>
          </a:xfrm>
          <a:prstGeom prst="rect">
            <a:avLst/>
          </a:prstGeom>
        </p:spPr>
      </p:pic>
      <p:sp>
        <p:nvSpPr>
          <p:cNvPr id="12" name="Text 8"/>
          <p:cNvSpPr txBox="1"/>
          <p:nvPr/>
        </p:nvSpPr>
        <p:spPr>
          <a:xfrm>
            <a:off x="9144000" y="3447288"/>
            <a:ext cx="2286000" cy="594360"/>
          </a:xfrm>
          <a:prstGeom prst="rect">
            <a:avLst/>
          </a:prstGeom>
          <a:noFill/>
          <a:ln/>
        </p:spPr>
        <p:txBody>
          <a:bodyPr wrap="square" lIns="0" tIns="0" rIns="0" bIns="0" rtlCol="0" anchor="ctr"/>
          <a:lstStyle/>
          <a:p>
            <a:pPr indent="0" marL="0">
              <a:buNone/>
            </a:pPr>
            <a:r>
              <a:rPr lang="en-US" sz="2100" b="1" dirty="0">
                <a:solidFill>
                  <a:schemeClr val="tx2"/>
                </a:solidFill>
              </a:rPr>
              <a:t>La clientèle</a:t>
            </a:r>
            <a:endParaRPr lang="en-US" sz="2100" dirty="0"/>
          </a:p>
        </p:txBody>
      </p:sp>
      <p:sp>
        <p:nvSpPr>
          <p:cNvPr id="13" name="Carte La recommandation"/>
          <p:cNvSpPr/>
          <p:nvPr/>
        </p:nvSpPr>
        <p:spPr>
          <a:xfrm>
            <a:off x="6035040" y="4297680"/>
            <a:ext cx="2697480" cy="1691640"/>
          </a:xfrm>
          <a:prstGeom prst="roundRect">
            <a:avLst>
              <a:gd name="adj" fmla="val 6486"/>
            </a:avLst>
          </a:prstGeom>
          <a:solidFill>
            <a:schemeClr val="bg2"/>
          </a:solidFill>
          <a:ln/>
        </p:spPr>
      </p:sp>
      <p:sp>
        <p:nvSpPr>
          <p:cNvPr id="14" name="La recommandation cercle"/>
          <p:cNvSpPr/>
          <p:nvPr/>
        </p:nvSpPr>
        <p:spPr>
          <a:xfrm>
            <a:off x="6263640" y="4526280"/>
            <a:ext cx="731520" cy="731520"/>
          </a:xfrm>
          <a:prstGeom prst="ellipse">
            <a:avLst/>
          </a:prstGeom>
          <a:solidFill>
            <a:schemeClr val="accent3"/>
          </a:solidFill>
          <a:ln/>
        </p:spPr>
      </p:sp>
      <p:pic>
        <p:nvPicPr>
          <p:cNvPr id="15" name="La recommandation icône" descr="La recommandation">    </p:cNvPr>
          <p:cNvPicPr>
            <a:picLocks noChangeAspect="1"/>
          </p:cNvPicPr>
          <p:nvPr/>
        </p:nvPicPr>
        <p:blipFill>
          <a:blip r:embed="rId3"/>
          <a:stretch>
            <a:fillRect/>
          </a:stretch>
        </p:blipFill>
        <p:spPr>
          <a:xfrm>
            <a:off x="6453835" y="4716475"/>
            <a:ext cx="351130" cy="351130"/>
          </a:xfrm>
          <a:prstGeom prst="rect">
            <a:avLst/>
          </a:prstGeom>
        </p:spPr>
      </p:pic>
      <p:sp>
        <p:nvSpPr>
          <p:cNvPr id="16" name="Text 11"/>
          <p:cNvSpPr txBox="1"/>
          <p:nvPr/>
        </p:nvSpPr>
        <p:spPr>
          <a:xfrm>
            <a:off x="6263640" y="5321808"/>
            <a:ext cx="2286000" cy="594360"/>
          </a:xfrm>
          <a:prstGeom prst="rect">
            <a:avLst/>
          </a:prstGeom>
          <a:noFill/>
          <a:ln/>
        </p:spPr>
        <p:txBody>
          <a:bodyPr wrap="square" lIns="0" tIns="0" rIns="0" bIns="0" rtlCol="0" anchor="ctr"/>
          <a:lstStyle/>
          <a:p>
            <a:pPr indent="0" marL="0">
              <a:buNone/>
            </a:pPr>
            <a:r>
              <a:rPr lang="en-US" sz="2100" b="1" dirty="0">
                <a:solidFill>
                  <a:schemeClr val="tx2"/>
                </a:solidFill>
              </a:rPr>
              <a:t>La recommandation</a:t>
            </a:r>
            <a:endParaRPr lang="en-US" sz="2100" dirty="0"/>
          </a:p>
        </p:txBody>
      </p:sp>
      <p:sp>
        <p:nvSpPr>
          <p:cNvPr id="17" name="Carte Un réseau de distribution réel"/>
          <p:cNvSpPr/>
          <p:nvPr/>
        </p:nvSpPr>
        <p:spPr>
          <a:xfrm>
            <a:off x="8915400" y="4297680"/>
            <a:ext cx="2697480" cy="1691640"/>
          </a:xfrm>
          <a:prstGeom prst="roundRect">
            <a:avLst>
              <a:gd name="adj" fmla="val 6486"/>
            </a:avLst>
          </a:prstGeom>
          <a:solidFill>
            <a:schemeClr val="bg2"/>
          </a:solidFill>
          <a:ln/>
        </p:spPr>
      </p:sp>
      <p:sp>
        <p:nvSpPr>
          <p:cNvPr id="18" name="Un réseau de distribution réel cercle"/>
          <p:cNvSpPr/>
          <p:nvPr/>
        </p:nvSpPr>
        <p:spPr>
          <a:xfrm>
            <a:off x="9144000" y="4526280"/>
            <a:ext cx="731520" cy="731520"/>
          </a:xfrm>
          <a:prstGeom prst="ellipse">
            <a:avLst/>
          </a:prstGeom>
          <a:solidFill>
            <a:schemeClr val="accent3"/>
          </a:solidFill>
          <a:ln/>
        </p:spPr>
      </p:sp>
      <p:pic>
        <p:nvPicPr>
          <p:cNvPr id="19" name="Un réseau de distribution réel icône" descr="Un réseau de distribution réel">    </p:cNvPr>
          <p:cNvPicPr>
            <a:picLocks noChangeAspect="1"/>
          </p:cNvPicPr>
          <p:nvPr/>
        </p:nvPicPr>
        <p:blipFill>
          <a:blip r:embed="rId4"/>
          <a:stretch>
            <a:fillRect/>
          </a:stretch>
        </p:blipFill>
        <p:spPr>
          <a:xfrm>
            <a:off x="9334195" y="4716475"/>
            <a:ext cx="351130" cy="351130"/>
          </a:xfrm>
          <a:prstGeom prst="rect">
            <a:avLst/>
          </a:prstGeom>
        </p:spPr>
      </p:pic>
      <p:sp>
        <p:nvSpPr>
          <p:cNvPr id="20" name="Text 14"/>
          <p:cNvSpPr txBox="1"/>
          <p:nvPr/>
        </p:nvSpPr>
        <p:spPr>
          <a:xfrm>
            <a:off x="9144000" y="5321808"/>
            <a:ext cx="2286000" cy="594360"/>
          </a:xfrm>
          <a:prstGeom prst="rect">
            <a:avLst/>
          </a:prstGeom>
          <a:noFill/>
          <a:ln/>
        </p:spPr>
        <p:txBody>
          <a:bodyPr wrap="square" lIns="0" tIns="0" rIns="0" bIns="0" rtlCol="0" anchor="ctr"/>
          <a:lstStyle/>
          <a:p>
            <a:pPr indent="0" marL="0">
              <a:buNone/>
            </a:pPr>
            <a:r>
              <a:rPr lang="en-US" sz="2100" b="1" dirty="0">
                <a:solidFill>
                  <a:schemeClr val="tx2"/>
                </a:solidFill>
              </a:rPr>
              <a:t>Un réseau de distribution réel</a:t>
            </a:r>
            <a:endParaRPr lang="en-US" sz="21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Les 5 éléments de sa puissance</a:t>
            </a:r>
            <a:endParaRPr lang="en-US" sz="3600" dirty="0"/>
          </a:p>
        </p:txBody>
      </p:sp>
      <p:sp>
        <p:nvSpPr>
          <p:cNvPr id="3" name="Carte puissance 1"/>
          <p:cNvSpPr/>
          <p:nvPr/>
        </p:nvSpPr>
        <p:spPr>
          <a:xfrm>
            <a:off x="548640" y="1645920"/>
            <a:ext cx="2084832" cy="4206240"/>
          </a:xfrm>
          <a:prstGeom prst="roundRect">
            <a:avLst>
              <a:gd name="adj" fmla="val 5263"/>
            </a:avLst>
          </a:prstGeom>
          <a:solidFill>
            <a:schemeClr val="bg2"/>
          </a:solidFill>
          <a:ln/>
        </p:spPr>
      </p:sp>
      <p:sp>
        <p:nvSpPr>
          <p:cNvPr id="4" name="Le réseau humain cercle"/>
          <p:cNvSpPr/>
          <p:nvPr/>
        </p:nvSpPr>
        <p:spPr>
          <a:xfrm>
            <a:off x="996696" y="1965960"/>
            <a:ext cx="1188720" cy="1188720"/>
          </a:xfrm>
          <a:prstGeom prst="ellipse">
            <a:avLst/>
          </a:prstGeom>
          <a:solidFill>
            <a:schemeClr val="accent1"/>
          </a:solidFill>
          <a:ln/>
        </p:spPr>
      </p:sp>
      <p:pic>
        <p:nvPicPr>
          <p:cNvPr id="5" name="Le réseau humain icône" descr="Le réseau humain">    </p:cNvPr>
          <p:cNvPicPr>
            <a:picLocks noChangeAspect="1"/>
          </p:cNvPicPr>
          <p:nvPr/>
        </p:nvPicPr>
        <p:blipFill>
          <a:blip r:embed="rId1"/>
          <a:stretch>
            <a:fillRect/>
          </a:stretch>
        </p:blipFill>
        <p:spPr>
          <a:xfrm>
            <a:off x="1305763" y="2275027"/>
            <a:ext cx="570586" cy="570586"/>
          </a:xfrm>
          <a:prstGeom prst="rect">
            <a:avLst/>
          </a:prstGeom>
        </p:spPr>
      </p:pic>
      <p:sp>
        <p:nvSpPr>
          <p:cNvPr id="6" name="Text 3"/>
          <p:cNvSpPr txBox="1"/>
          <p:nvPr/>
        </p:nvSpPr>
        <p:spPr>
          <a:xfrm>
            <a:off x="731520" y="3383280"/>
            <a:ext cx="1719072" cy="822960"/>
          </a:xfrm>
          <a:prstGeom prst="rect">
            <a:avLst/>
          </a:prstGeom>
          <a:noFill/>
          <a:ln/>
        </p:spPr>
        <p:txBody>
          <a:bodyPr wrap="square" lIns="0" tIns="0" rIns="0" bIns="0" rtlCol="0" anchor="t"/>
          <a:lstStyle/>
          <a:p>
            <a:pPr algn="ctr" indent="0" marL="0">
              <a:buNone/>
            </a:pPr>
            <a:r>
              <a:rPr lang="en-US" sz="4800" b="1" dirty="0">
                <a:solidFill>
                  <a:schemeClr val="accent2"/>
                </a:solidFill>
                <a:latin typeface="Cambria" pitchFamily="34" charset="0"/>
                <a:ea typeface="Cambria" pitchFamily="34" charset="-122"/>
                <a:cs typeface="Cambria" pitchFamily="34" charset="-120"/>
              </a:rPr>
              <a:t>1</a:t>
            </a:r>
            <a:endParaRPr lang="en-US" sz="4800" dirty="0"/>
          </a:p>
        </p:txBody>
      </p:sp>
      <p:sp>
        <p:nvSpPr>
          <p:cNvPr id="7" name="Text 4"/>
          <p:cNvSpPr txBox="1"/>
          <p:nvPr/>
        </p:nvSpPr>
        <p:spPr>
          <a:xfrm>
            <a:off x="640080" y="4251960"/>
            <a:ext cx="1901952" cy="1371600"/>
          </a:xfrm>
          <a:prstGeom prst="rect">
            <a:avLst/>
          </a:prstGeom>
          <a:noFill/>
          <a:ln/>
        </p:spPr>
        <p:txBody>
          <a:bodyPr wrap="square" lIns="0" tIns="0" rIns="0" bIns="0" rtlCol="0" anchor="t"/>
          <a:lstStyle/>
          <a:p>
            <a:pPr algn="ctr" indent="0" marL="0">
              <a:buNone/>
            </a:pPr>
            <a:r>
              <a:rPr lang="en-US" sz="2000" b="1" dirty="0">
                <a:solidFill>
                  <a:schemeClr val="tx2"/>
                </a:solidFill>
              </a:rPr>
              <a:t>Le réseau humain</a:t>
            </a:r>
            <a:endParaRPr lang="en-US" sz="2000" dirty="0"/>
          </a:p>
        </p:txBody>
      </p:sp>
      <p:sp>
        <p:nvSpPr>
          <p:cNvPr id="8" name="Carte puissance 2"/>
          <p:cNvSpPr/>
          <p:nvPr/>
        </p:nvSpPr>
        <p:spPr>
          <a:xfrm>
            <a:off x="2816352" y="1645920"/>
            <a:ext cx="2084832" cy="4206240"/>
          </a:xfrm>
          <a:prstGeom prst="roundRect">
            <a:avLst>
              <a:gd name="adj" fmla="val 5263"/>
            </a:avLst>
          </a:prstGeom>
          <a:solidFill>
            <a:schemeClr val="bg2"/>
          </a:solidFill>
          <a:ln/>
        </p:spPr>
      </p:sp>
      <p:sp>
        <p:nvSpPr>
          <p:cNvPr id="9" name="La duplication cercle"/>
          <p:cNvSpPr/>
          <p:nvPr/>
        </p:nvSpPr>
        <p:spPr>
          <a:xfrm>
            <a:off x="3264408" y="1965960"/>
            <a:ext cx="1188720" cy="1188720"/>
          </a:xfrm>
          <a:prstGeom prst="ellipse">
            <a:avLst/>
          </a:prstGeom>
          <a:solidFill>
            <a:schemeClr val="accent1"/>
          </a:solidFill>
          <a:ln/>
        </p:spPr>
      </p:sp>
      <p:pic>
        <p:nvPicPr>
          <p:cNvPr id="10" name="La duplication icône" descr="La duplication">    </p:cNvPr>
          <p:cNvPicPr>
            <a:picLocks noChangeAspect="1"/>
          </p:cNvPicPr>
          <p:nvPr/>
        </p:nvPicPr>
        <p:blipFill>
          <a:blip r:embed="rId2"/>
          <a:stretch>
            <a:fillRect/>
          </a:stretch>
        </p:blipFill>
        <p:spPr>
          <a:xfrm>
            <a:off x="3573475" y="2275027"/>
            <a:ext cx="570586" cy="570586"/>
          </a:xfrm>
          <a:prstGeom prst="rect">
            <a:avLst/>
          </a:prstGeom>
        </p:spPr>
      </p:pic>
      <p:sp>
        <p:nvSpPr>
          <p:cNvPr id="11" name="Text 7"/>
          <p:cNvSpPr txBox="1"/>
          <p:nvPr/>
        </p:nvSpPr>
        <p:spPr>
          <a:xfrm>
            <a:off x="2999232" y="3383280"/>
            <a:ext cx="1719072" cy="822960"/>
          </a:xfrm>
          <a:prstGeom prst="rect">
            <a:avLst/>
          </a:prstGeom>
          <a:noFill/>
          <a:ln/>
        </p:spPr>
        <p:txBody>
          <a:bodyPr wrap="square" lIns="0" tIns="0" rIns="0" bIns="0" rtlCol="0" anchor="t"/>
          <a:lstStyle/>
          <a:p>
            <a:pPr algn="ctr" indent="0" marL="0">
              <a:buNone/>
            </a:pPr>
            <a:r>
              <a:rPr lang="en-US" sz="4800" b="1" dirty="0">
                <a:solidFill>
                  <a:schemeClr val="accent2"/>
                </a:solidFill>
                <a:latin typeface="Cambria" pitchFamily="34" charset="0"/>
                <a:ea typeface="Cambria" pitchFamily="34" charset="-122"/>
                <a:cs typeface="Cambria" pitchFamily="34" charset="-120"/>
              </a:rPr>
              <a:t>2</a:t>
            </a:r>
            <a:endParaRPr lang="en-US" sz="4800" dirty="0"/>
          </a:p>
        </p:txBody>
      </p:sp>
      <p:sp>
        <p:nvSpPr>
          <p:cNvPr id="12" name="Text 8"/>
          <p:cNvSpPr txBox="1"/>
          <p:nvPr/>
        </p:nvSpPr>
        <p:spPr>
          <a:xfrm>
            <a:off x="2907792" y="4251960"/>
            <a:ext cx="1901952" cy="1371600"/>
          </a:xfrm>
          <a:prstGeom prst="rect">
            <a:avLst/>
          </a:prstGeom>
          <a:noFill/>
          <a:ln/>
        </p:spPr>
        <p:txBody>
          <a:bodyPr wrap="square" lIns="0" tIns="0" rIns="0" bIns="0" rtlCol="0" anchor="t"/>
          <a:lstStyle/>
          <a:p>
            <a:pPr algn="ctr" indent="0" marL="0">
              <a:buNone/>
            </a:pPr>
            <a:r>
              <a:rPr lang="en-US" sz="2000" b="1" dirty="0">
                <a:solidFill>
                  <a:schemeClr val="tx2"/>
                </a:solidFill>
              </a:rPr>
              <a:t>La duplication</a:t>
            </a:r>
            <a:endParaRPr lang="en-US" sz="2000" dirty="0"/>
          </a:p>
        </p:txBody>
      </p:sp>
      <p:sp>
        <p:nvSpPr>
          <p:cNvPr id="13" name="Carte puissance 3"/>
          <p:cNvSpPr/>
          <p:nvPr/>
        </p:nvSpPr>
        <p:spPr>
          <a:xfrm>
            <a:off x="5084064" y="1645920"/>
            <a:ext cx="2084832" cy="4206240"/>
          </a:xfrm>
          <a:prstGeom prst="roundRect">
            <a:avLst>
              <a:gd name="adj" fmla="val 5263"/>
            </a:avLst>
          </a:prstGeom>
          <a:solidFill>
            <a:schemeClr val="bg2"/>
          </a:solidFill>
          <a:ln/>
        </p:spPr>
      </p:sp>
      <p:sp>
        <p:nvSpPr>
          <p:cNvPr id="14" name="Le travail d'équipe cercle"/>
          <p:cNvSpPr/>
          <p:nvPr/>
        </p:nvSpPr>
        <p:spPr>
          <a:xfrm>
            <a:off x="5532120" y="1965960"/>
            <a:ext cx="1188720" cy="1188720"/>
          </a:xfrm>
          <a:prstGeom prst="ellipse">
            <a:avLst/>
          </a:prstGeom>
          <a:solidFill>
            <a:schemeClr val="accent1"/>
          </a:solidFill>
          <a:ln/>
        </p:spPr>
      </p:sp>
      <p:pic>
        <p:nvPicPr>
          <p:cNvPr id="15" name="Le travail d'équipe icône" descr="Le travail d'équipe">    </p:cNvPr>
          <p:cNvPicPr>
            <a:picLocks noChangeAspect="1"/>
          </p:cNvPicPr>
          <p:nvPr/>
        </p:nvPicPr>
        <p:blipFill>
          <a:blip r:embed="rId3"/>
          <a:stretch>
            <a:fillRect/>
          </a:stretch>
        </p:blipFill>
        <p:spPr>
          <a:xfrm>
            <a:off x="5841187" y="2275027"/>
            <a:ext cx="570586" cy="570586"/>
          </a:xfrm>
          <a:prstGeom prst="rect">
            <a:avLst/>
          </a:prstGeom>
        </p:spPr>
      </p:pic>
      <p:sp>
        <p:nvSpPr>
          <p:cNvPr id="16" name="Text 11"/>
          <p:cNvSpPr txBox="1"/>
          <p:nvPr/>
        </p:nvSpPr>
        <p:spPr>
          <a:xfrm>
            <a:off x="5266944" y="3383280"/>
            <a:ext cx="1719072" cy="822960"/>
          </a:xfrm>
          <a:prstGeom prst="rect">
            <a:avLst/>
          </a:prstGeom>
          <a:noFill/>
          <a:ln/>
        </p:spPr>
        <p:txBody>
          <a:bodyPr wrap="square" lIns="0" tIns="0" rIns="0" bIns="0" rtlCol="0" anchor="t"/>
          <a:lstStyle/>
          <a:p>
            <a:pPr algn="ctr" indent="0" marL="0">
              <a:buNone/>
            </a:pPr>
            <a:r>
              <a:rPr lang="en-US" sz="4800" b="1" dirty="0">
                <a:solidFill>
                  <a:schemeClr val="accent2"/>
                </a:solidFill>
                <a:latin typeface="Cambria" pitchFamily="34" charset="0"/>
                <a:ea typeface="Cambria" pitchFamily="34" charset="-122"/>
                <a:cs typeface="Cambria" pitchFamily="34" charset="-120"/>
              </a:rPr>
              <a:t>3</a:t>
            </a:r>
            <a:endParaRPr lang="en-US" sz="4800" dirty="0"/>
          </a:p>
        </p:txBody>
      </p:sp>
      <p:sp>
        <p:nvSpPr>
          <p:cNvPr id="17" name="Text 12"/>
          <p:cNvSpPr txBox="1"/>
          <p:nvPr/>
        </p:nvSpPr>
        <p:spPr>
          <a:xfrm>
            <a:off x="5175504" y="4251960"/>
            <a:ext cx="1901952" cy="1371600"/>
          </a:xfrm>
          <a:prstGeom prst="rect">
            <a:avLst/>
          </a:prstGeom>
          <a:noFill/>
          <a:ln/>
        </p:spPr>
        <p:txBody>
          <a:bodyPr wrap="square" lIns="0" tIns="0" rIns="0" bIns="0" rtlCol="0" anchor="t"/>
          <a:lstStyle/>
          <a:p>
            <a:pPr algn="ctr" indent="0" marL="0">
              <a:buNone/>
            </a:pPr>
            <a:r>
              <a:rPr lang="en-US" sz="2000" b="1" dirty="0">
                <a:solidFill>
                  <a:schemeClr val="tx2"/>
                </a:solidFill>
              </a:rPr>
              <a:t>Le travail d'équipe</a:t>
            </a:r>
            <a:endParaRPr lang="en-US" sz="2000" dirty="0"/>
          </a:p>
        </p:txBody>
      </p:sp>
      <p:sp>
        <p:nvSpPr>
          <p:cNvPr id="18" name="Carte puissance 4"/>
          <p:cNvSpPr/>
          <p:nvPr/>
        </p:nvSpPr>
        <p:spPr>
          <a:xfrm>
            <a:off x="7351776" y="1645920"/>
            <a:ext cx="2084832" cy="4206240"/>
          </a:xfrm>
          <a:prstGeom prst="roundRect">
            <a:avLst>
              <a:gd name="adj" fmla="val 5263"/>
            </a:avLst>
          </a:prstGeom>
          <a:solidFill>
            <a:schemeClr val="bg2"/>
          </a:solidFill>
          <a:ln/>
        </p:spPr>
      </p:sp>
      <p:sp>
        <p:nvSpPr>
          <p:cNvPr id="19" name="Le développement personnel cercle"/>
          <p:cNvSpPr/>
          <p:nvPr/>
        </p:nvSpPr>
        <p:spPr>
          <a:xfrm>
            <a:off x="7799832" y="1965960"/>
            <a:ext cx="1188720" cy="1188720"/>
          </a:xfrm>
          <a:prstGeom prst="ellipse">
            <a:avLst/>
          </a:prstGeom>
          <a:solidFill>
            <a:schemeClr val="accent1"/>
          </a:solidFill>
          <a:ln/>
        </p:spPr>
      </p:sp>
      <p:pic>
        <p:nvPicPr>
          <p:cNvPr id="20" name="Le développement personnel icône" descr="Le développement personnel">    </p:cNvPr>
          <p:cNvPicPr>
            <a:picLocks noChangeAspect="1"/>
          </p:cNvPicPr>
          <p:nvPr/>
        </p:nvPicPr>
        <p:blipFill>
          <a:blip r:embed="rId4"/>
          <a:stretch>
            <a:fillRect/>
          </a:stretch>
        </p:blipFill>
        <p:spPr>
          <a:xfrm>
            <a:off x="8108899" y="2275027"/>
            <a:ext cx="570586" cy="570586"/>
          </a:xfrm>
          <a:prstGeom prst="rect">
            <a:avLst/>
          </a:prstGeom>
        </p:spPr>
      </p:pic>
      <p:sp>
        <p:nvSpPr>
          <p:cNvPr id="21" name="Text 15"/>
          <p:cNvSpPr txBox="1"/>
          <p:nvPr/>
        </p:nvSpPr>
        <p:spPr>
          <a:xfrm>
            <a:off x="7534656" y="3383280"/>
            <a:ext cx="1719072" cy="822960"/>
          </a:xfrm>
          <a:prstGeom prst="rect">
            <a:avLst/>
          </a:prstGeom>
          <a:noFill/>
          <a:ln/>
        </p:spPr>
        <p:txBody>
          <a:bodyPr wrap="square" lIns="0" tIns="0" rIns="0" bIns="0" rtlCol="0" anchor="t"/>
          <a:lstStyle/>
          <a:p>
            <a:pPr algn="ctr" indent="0" marL="0">
              <a:buNone/>
            </a:pPr>
            <a:r>
              <a:rPr lang="en-US" sz="4800" b="1" dirty="0">
                <a:solidFill>
                  <a:schemeClr val="accent2"/>
                </a:solidFill>
                <a:latin typeface="Cambria" pitchFamily="34" charset="0"/>
                <a:ea typeface="Cambria" pitchFamily="34" charset="-122"/>
                <a:cs typeface="Cambria" pitchFamily="34" charset="-120"/>
              </a:rPr>
              <a:t>4</a:t>
            </a:r>
            <a:endParaRPr lang="en-US" sz="4800" dirty="0"/>
          </a:p>
        </p:txBody>
      </p:sp>
      <p:sp>
        <p:nvSpPr>
          <p:cNvPr id="22" name="Text 16"/>
          <p:cNvSpPr txBox="1"/>
          <p:nvPr/>
        </p:nvSpPr>
        <p:spPr>
          <a:xfrm>
            <a:off x="7443216" y="4251960"/>
            <a:ext cx="1901952" cy="1371600"/>
          </a:xfrm>
          <a:prstGeom prst="rect">
            <a:avLst/>
          </a:prstGeom>
          <a:noFill/>
          <a:ln/>
        </p:spPr>
        <p:txBody>
          <a:bodyPr wrap="square" lIns="0" tIns="0" rIns="0" bIns="0" rtlCol="0" anchor="t"/>
          <a:lstStyle/>
          <a:p>
            <a:pPr algn="ctr" indent="0" marL="0">
              <a:buNone/>
            </a:pPr>
            <a:r>
              <a:rPr lang="en-US" sz="2000" b="1" dirty="0">
                <a:solidFill>
                  <a:schemeClr val="tx2"/>
                </a:solidFill>
              </a:rPr>
              <a:t>Le développement personnel</a:t>
            </a:r>
            <a:endParaRPr lang="en-US" sz="2000" dirty="0"/>
          </a:p>
        </p:txBody>
      </p:sp>
      <p:sp>
        <p:nvSpPr>
          <p:cNvPr id="23" name="Carte puissance 5"/>
          <p:cNvSpPr/>
          <p:nvPr/>
        </p:nvSpPr>
        <p:spPr>
          <a:xfrm>
            <a:off x="9619488" y="1645920"/>
            <a:ext cx="2084832" cy="4206240"/>
          </a:xfrm>
          <a:prstGeom prst="roundRect">
            <a:avLst>
              <a:gd name="adj" fmla="val 5263"/>
            </a:avLst>
          </a:prstGeom>
          <a:solidFill>
            <a:schemeClr val="bg2"/>
          </a:solidFill>
          <a:ln/>
        </p:spPr>
      </p:sp>
      <p:sp>
        <p:nvSpPr>
          <p:cNvPr id="24" name="Le temps et la constance cercle"/>
          <p:cNvSpPr/>
          <p:nvPr/>
        </p:nvSpPr>
        <p:spPr>
          <a:xfrm>
            <a:off x="10067544" y="1965960"/>
            <a:ext cx="1188720" cy="1188720"/>
          </a:xfrm>
          <a:prstGeom prst="ellipse">
            <a:avLst/>
          </a:prstGeom>
          <a:solidFill>
            <a:schemeClr val="accent1"/>
          </a:solidFill>
          <a:ln/>
        </p:spPr>
      </p:sp>
      <p:pic>
        <p:nvPicPr>
          <p:cNvPr id="25" name="Le temps et la constance icône" descr="Le temps et la constance">    </p:cNvPr>
          <p:cNvPicPr>
            <a:picLocks noChangeAspect="1"/>
          </p:cNvPicPr>
          <p:nvPr/>
        </p:nvPicPr>
        <p:blipFill>
          <a:blip r:embed="rId5"/>
          <a:stretch>
            <a:fillRect/>
          </a:stretch>
        </p:blipFill>
        <p:spPr>
          <a:xfrm>
            <a:off x="10376611" y="2275027"/>
            <a:ext cx="570586" cy="570586"/>
          </a:xfrm>
          <a:prstGeom prst="rect">
            <a:avLst/>
          </a:prstGeom>
        </p:spPr>
      </p:pic>
      <p:sp>
        <p:nvSpPr>
          <p:cNvPr id="26" name="Text 19"/>
          <p:cNvSpPr txBox="1"/>
          <p:nvPr/>
        </p:nvSpPr>
        <p:spPr>
          <a:xfrm>
            <a:off x="9802368" y="3383280"/>
            <a:ext cx="1719072" cy="822960"/>
          </a:xfrm>
          <a:prstGeom prst="rect">
            <a:avLst/>
          </a:prstGeom>
          <a:noFill/>
          <a:ln/>
        </p:spPr>
        <p:txBody>
          <a:bodyPr wrap="square" lIns="0" tIns="0" rIns="0" bIns="0" rtlCol="0" anchor="t"/>
          <a:lstStyle/>
          <a:p>
            <a:pPr algn="ctr" indent="0" marL="0">
              <a:buNone/>
            </a:pPr>
            <a:r>
              <a:rPr lang="en-US" sz="4800" b="1" dirty="0">
                <a:solidFill>
                  <a:schemeClr val="accent2"/>
                </a:solidFill>
                <a:latin typeface="Cambria" pitchFamily="34" charset="0"/>
                <a:ea typeface="Cambria" pitchFamily="34" charset="-122"/>
                <a:cs typeface="Cambria" pitchFamily="34" charset="-120"/>
              </a:rPr>
              <a:t>5</a:t>
            </a:r>
            <a:endParaRPr lang="en-US" sz="4800" dirty="0"/>
          </a:p>
        </p:txBody>
      </p:sp>
      <p:sp>
        <p:nvSpPr>
          <p:cNvPr id="27" name="Text 20"/>
          <p:cNvSpPr txBox="1"/>
          <p:nvPr/>
        </p:nvSpPr>
        <p:spPr>
          <a:xfrm>
            <a:off x="9710928" y="4251960"/>
            <a:ext cx="1901952" cy="1371600"/>
          </a:xfrm>
          <a:prstGeom prst="rect">
            <a:avLst/>
          </a:prstGeom>
          <a:noFill/>
          <a:ln/>
        </p:spPr>
        <p:txBody>
          <a:bodyPr wrap="square" lIns="0" tIns="0" rIns="0" bIns="0" rtlCol="0" anchor="t"/>
          <a:lstStyle/>
          <a:p>
            <a:pPr algn="ctr" indent="0" marL="0">
              <a:buNone/>
            </a:pPr>
            <a:r>
              <a:rPr lang="en-US" sz="2000" b="1" dirty="0">
                <a:solidFill>
                  <a:schemeClr val="tx2"/>
                </a:solidFill>
              </a:rPr>
              <a:t>Le temps et la constance</a:t>
            </a:r>
            <a:endParaRPr lang="en-US" sz="20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Le marketing de réseau dans le monde</a:t>
            </a:r>
            <a:endParaRPr lang="en-US" sz="3600" dirty="0"/>
          </a:p>
        </p:txBody>
      </p:sp>
      <p:sp>
        <p:nvSpPr>
          <p:cNvPr id="3" name="Statistique ≈ 165 Md $"/>
          <p:cNvSpPr/>
          <p:nvPr/>
        </p:nvSpPr>
        <p:spPr>
          <a:xfrm>
            <a:off x="548640" y="1554480"/>
            <a:ext cx="2651760" cy="4206240"/>
          </a:xfrm>
          <a:prstGeom prst="roundRect">
            <a:avLst>
              <a:gd name="adj" fmla="val 4138"/>
            </a:avLst>
          </a:prstGeom>
          <a:solidFill>
            <a:schemeClr val="accent3"/>
          </a:solidFill>
          <a:ln/>
        </p:spPr>
      </p:sp>
      <p:sp>
        <p:nvSpPr>
          <p:cNvPr id="4" name="≈ 165 Md $ cercle"/>
          <p:cNvSpPr/>
          <p:nvPr/>
        </p:nvSpPr>
        <p:spPr>
          <a:xfrm>
            <a:off x="777240" y="1783080"/>
            <a:ext cx="868680" cy="868680"/>
          </a:xfrm>
          <a:prstGeom prst="ellipse">
            <a:avLst/>
          </a:prstGeom>
          <a:solidFill>
            <a:schemeClr val="accent1"/>
          </a:solidFill>
          <a:ln/>
        </p:spPr>
      </p:sp>
      <p:pic>
        <p:nvPicPr>
          <p:cNvPr id="5" name="≈ 165 Md $ icône" descr="≈ 165 Md $">    </p:cNvPr>
          <p:cNvPicPr>
            <a:picLocks noChangeAspect="1"/>
          </p:cNvPicPr>
          <p:nvPr/>
        </p:nvPicPr>
        <p:blipFill>
          <a:blip r:embed="rId1"/>
          <a:stretch>
            <a:fillRect/>
          </a:stretch>
        </p:blipFill>
        <p:spPr>
          <a:xfrm>
            <a:off x="1003097" y="2008937"/>
            <a:ext cx="416966" cy="416966"/>
          </a:xfrm>
          <a:prstGeom prst="rect">
            <a:avLst/>
          </a:prstGeom>
        </p:spPr>
      </p:pic>
      <p:sp>
        <p:nvSpPr>
          <p:cNvPr id="6" name="Text 3"/>
          <p:cNvSpPr txBox="1"/>
          <p:nvPr/>
        </p:nvSpPr>
        <p:spPr>
          <a:xfrm>
            <a:off x="777240" y="2788920"/>
            <a:ext cx="2286000" cy="91440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 165 Md $</a:t>
            </a:r>
            <a:endParaRPr lang="en-US" sz="3400" dirty="0"/>
          </a:p>
        </p:txBody>
      </p:sp>
      <p:sp>
        <p:nvSpPr>
          <p:cNvPr id="7" name="Text 4"/>
          <p:cNvSpPr txBox="1"/>
          <p:nvPr/>
        </p:nvSpPr>
        <p:spPr>
          <a:xfrm>
            <a:off x="777240" y="3794760"/>
            <a:ext cx="2286000" cy="1828800"/>
          </a:xfrm>
          <a:prstGeom prst="rect">
            <a:avLst/>
          </a:prstGeom>
          <a:noFill/>
          <a:ln/>
        </p:spPr>
        <p:txBody>
          <a:bodyPr wrap="square" lIns="0" tIns="0" rIns="0" bIns="0" rtlCol="0" anchor="t"/>
          <a:lstStyle/>
          <a:p>
            <a:pPr indent="0" marL="0">
              <a:buNone/>
            </a:pPr>
            <a:r>
              <a:rPr lang="en-US" sz="2100" dirty="0">
                <a:solidFill>
                  <a:schemeClr val="bg1"/>
                </a:solidFill>
              </a:rPr>
              <a:t>de ventes annuelles dans le monde (2023)</a:t>
            </a:r>
            <a:endParaRPr lang="en-US" sz="2100" dirty="0"/>
          </a:p>
        </p:txBody>
      </p:sp>
      <p:sp>
        <p:nvSpPr>
          <p:cNvPr id="8" name="Statistique &gt; 100 M"/>
          <p:cNvSpPr/>
          <p:nvPr/>
        </p:nvSpPr>
        <p:spPr>
          <a:xfrm>
            <a:off x="3383280" y="1554480"/>
            <a:ext cx="2651760" cy="4206240"/>
          </a:xfrm>
          <a:prstGeom prst="roundRect">
            <a:avLst>
              <a:gd name="adj" fmla="val 4138"/>
            </a:avLst>
          </a:prstGeom>
          <a:solidFill>
            <a:schemeClr val="accent3"/>
          </a:solidFill>
          <a:ln/>
        </p:spPr>
      </p:sp>
      <p:sp>
        <p:nvSpPr>
          <p:cNvPr id="9" name="&gt; 100 M cercle"/>
          <p:cNvSpPr/>
          <p:nvPr/>
        </p:nvSpPr>
        <p:spPr>
          <a:xfrm>
            <a:off x="3611880" y="1783080"/>
            <a:ext cx="868680" cy="868680"/>
          </a:xfrm>
          <a:prstGeom prst="ellipse">
            <a:avLst/>
          </a:prstGeom>
          <a:solidFill>
            <a:schemeClr val="accent1"/>
          </a:solidFill>
          <a:ln/>
        </p:spPr>
      </p:sp>
      <p:pic>
        <p:nvPicPr>
          <p:cNvPr id="10" name="&gt; 100 M icône" descr="&gt; 100 M">    </p:cNvPr>
          <p:cNvPicPr>
            <a:picLocks noChangeAspect="1"/>
          </p:cNvPicPr>
          <p:nvPr/>
        </p:nvPicPr>
        <p:blipFill>
          <a:blip r:embed="rId2"/>
          <a:stretch>
            <a:fillRect/>
          </a:stretch>
        </p:blipFill>
        <p:spPr>
          <a:xfrm>
            <a:off x="3837737" y="2008937"/>
            <a:ext cx="416966" cy="416966"/>
          </a:xfrm>
          <a:prstGeom prst="rect">
            <a:avLst/>
          </a:prstGeom>
        </p:spPr>
      </p:pic>
      <p:sp>
        <p:nvSpPr>
          <p:cNvPr id="11" name="Text 7"/>
          <p:cNvSpPr txBox="1"/>
          <p:nvPr/>
        </p:nvSpPr>
        <p:spPr>
          <a:xfrm>
            <a:off x="3611880" y="2788920"/>
            <a:ext cx="2286000" cy="91440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&gt; 100 M</a:t>
            </a:r>
            <a:endParaRPr lang="en-US" sz="3400" dirty="0"/>
          </a:p>
        </p:txBody>
      </p:sp>
      <p:sp>
        <p:nvSpPr>
          <p:cNvPr id="12" name="Text 8"/>
          <p:cNvSpPr txBox="1"/>
          <p:nvPr/>
        </p:nvSpPr>
        <p:spPr>
          <a:xfrm>
            <a:off x="3611880" y="3794760"/>
            <a:ext cx="2286000" cy="1828800"/>
          </a:xfrm>
          <a:prstGeom prst="rect">
            <a:avLst/>
          </a:prstGeom>
          <a:noFill/>
          <a:ln/>
        </p:spPr>
        <p:txBody>
          <a:bodyPr wrap="square" lIns="0" tIns="0" rIns="0" bIns="0" rtlCol="0" anchor="t"/>
          <a:lstStyle/>
          <a:p>
            <a:pPr indent="0" marL="0">
              <a:buNone/>
            </a:pPr>
            <a:r>
              <a:rPr lang="en-US" sz="2100" dirty="0">
                <a:solidFill>
                  <a:schemeClr val="bg1"/>
                </a:solidFill>
              </a:rPr>
              <a:t>de vendeurs indépendants dans le monde</a:t>
            </a:r>
            <a:endParaRPr lang="en-US" sz="2100" dirty="0"/>
          </a:p>
        </p:txBody>
      </p:sp>
      <p:sp>
        <p:nvSpPr>
          <p:cNvPr id="13" name="Statistique ≈ 3 / 4"/>
          <p:cNvSpPr/>
          <p:nvPr/>
        </p:nvSpPr>
        <p:spPr>
          <a:xfrm>
            <a:off x="6217920" y="1554480"/>
            <a:ext cx="2651760" cy="4206240"/>
          </a:xfrm>
          <a:prstGeom prst="roundRect">
            <a:avLst>
              <a:gd name="adj" fmla="val 4138"/>
            </a:avLst>
          </a:prstGeom>
          <a:solidFill>
            <a:schemeClr val="accent3"/>
          </a:solidFill>
          <a:ln/>
        </p:spPr>
      </p:sp>
      <p:sp>
        <p:nvSpPr>
          <p:cNvPr id="14" name="≈ 3 / 4 cercle"/>
          <p:cNvSpPr/>
          <p:nvPr/>
        </p:nvSpPr>
        <p:spPr>
          <a:xfrm>
            <a:off x="6446520" y="1783080"/>
            <a:ext cx="868680" cy="868680"/>
          </a:xfrm>
          <a:prstGeom prst="ellipse">
            <a:avLst/>
          </a:prstGeom>
          <a:solidFill>
            <a:schemeClr val="accent1"/>
          </a:solidFill>
          <a:ln/>
        </p:spPr>
      </p:sp>
      <p:pic>
        <p:nvPicPr>
          <p:cNvPr id="15" name="≈ 3 / 4 icône" descr="≈ 3 / 4">    </p:cNvPr>
          <p:cNvPicPr>
            <a:picLocks noChangeAspect="1"/>
          </p:cNvPicPr>
          <p:nvPr/>
        </p:nvPicPr>
        <p:blipFill>
          <a:blip r:embed="rId3"/>
          <a:stretch>
            <a:fillRect/>
          </a:stretch>
        </p:blipFill>
        <p:spPr>
          <a:xfrm>
            <a:off x="6672377" y="2008937"/>
            <a:ext cx="416966" cy="416966"/>
          </a:xfrm>
          <a:prstGeom prst="rect">
            <a:avLst/>
          </a:prstGeom>
        </p:spPr>
      </p:pic>
      <p:sp>
        <p:nvSpPr>
          <p:cNvPr id="16" name="Text 11"/>
          <p:cNvSpPr txBox="1"/>
          <p:nvPr/>
        </p:nvSpPr>
        <p:spPr>
          <a:xfrm>
            <a:off x="6446520" y="2788920"/>
            <a:ext cx="2286000" cy="91440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 3 / 4</a:t>
            </a:r>
            <a:endParaRPr lang="en-US" sz="3400" dirty="0"/>
          </a:p>
        </p:txBody>
      </p:sp>
      <p:sp>
        <p:nvSpPr>
          <p:cNvPr id="17" name="Text 12"/>
          <p:cNvSpPr txBox="1"/>
          <p:nvPr/>
        </p:nvSpPr>
        <p:spPr>
          <a:xfrm>
            <a:off x="6446520" y="3794760"/>
            <a:ext cx="2286000" cy="1828800"/>
          </a:xfrm>
          <a:prstGeom prst="rect">
            <a:avLst/>
          </a:prstGeom>
          <a:noFill/>
          <a:ln/>
        </p:spPr>
        <p:txBody>
          <a:bodyPr wrap="square" lIns="0" tIns="0" rIns="0" bIns="0" rtlCol="0" anchor="t"/>
          <a:lstStyle/>
          <a:p>
            <a:pPr indent="0" marL="0">
              <a:buNone/>
            </a:pPr>
            <a:r>
              <a:rPr lang="en-US" sz="2100" dirty="0">
                <a:solidFill>
                  <a:schemeClr val="bg1"/>
                </a:solidFill>
              </a:rPr>
              <a:t>des vendeurs sont des femmes</a:t>
            </a:r>
            <a:endParaRPr lang="en-US" sz="2100" dirty="0"/>
          </a:p>
        </p:txBody>
      </p:sp>
      <p:sp>
        <p:nvSpPr>
          <p:cNvPr id="18" name="Statistique 100+ pays"/>
          <p:cNvSpPr/>
          <p:nvPr/>
        </p:nvSpPr>
        <p:spPr>
          <a:xfrm>
            <a:off x="9052560" y="1554480"/>
            <a:ext cx="2651760" cy="4206240"/>
          </a:xfrm>
          <a:prstGeom prst="roundRect">
            <a:avLst>
              <a:gd name="adj" fmla="val 4138"/>
            </a:avLst>
          </a:prstGeom>
          <a:solidFill>
            <a:schemeClr val="accent3"/>
          </a:solidFill>
          <a:ln/>
        </p:spPr>
      </p:sp>
      <p:sp>
        <p:nvSpPr>
          <p:cNvPr id="19" name="100+ pays cercle"/>
          <p:cNvSpPr/>
          <p:nvPr/>
        </p:nvSpPr>
        <p:spPr>
          <a:xfrm>
            <a:off x="9281160" y="1783080"/>
            <a:ext cx="868680" cy="868680"/>
          </a:xfrm>
          <a:prstGeom prst="ellipse">
            <a:avLst/>
          </a:prstGeom>
          <a:solidFill>
            <a:schemeClr val="accent1"/>
          </a:solidFill>
          <a:ln/>
        </p:spPr>
      </p:sp>
      <p:pic>
        <p:nvPicPr>
          <p:cNvPr id="20" name="100+ pays icône" descr="100+ pays">    </p:cNvPr>
          <p:cNvPicPr>
            <a:picLocks noChangeAspect="1"/>
          </p:cNvPicPr>
          <p:nvPr/>
        </p:nvPicPr>
        <p:blipFill>
          <a:blip r:embed="rId4"/>
          <a:stretch>
            <a:fillRect/>
          </a:stretch>
        </p:blipFill>
        <p:spPr>
          <a:xfrm>
            <a:off x="9507017" y="2008937"/>
            <a:ext cx="416966" cy="416966"/>
          </a:xfrm>
          <a:prstGeom prst="rect">
            <a:avLst/>
          </a:prstGeom>
        </p:spPr>
      </p:pic>
      <p:sp>
        <p:nvSpPr>
          <p:cNvPr id="21" name="Text 15"/>
          <p:cNvSpPr txBox="1"/>
          <p:nvPr/>
        </p:nvSpPr>
        <p:spPr>
          <a:xfrm>
            <a:off x="9281160" y="2788920"/>
            <a:ext cx="2286000" cy="91440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100+ pays</a:t>
            </a:r>
            <a:endParaRPr lang="en-US" sz="3400" dirty="0"/>
          </a:p>
        </p:txBody>
      </p:sp>
      <p:sp>
        <p:nvSpPr>
          <p:cNvPr id="22" name="Text 16"/>
          <p:cNvSpPr txBox="1"/>
          <p:nvPr/>
        </p:nvSpPr>
        <p:spPr>
          <a:xfrm>
            <a:off x="9281160" y="3794760"/>
            <a:ext cx="2286000" cy="1828800"/>
          </a:xfrm>
          <a:prstGeom prst="rect">
            <a:avLst/>
          </a:prstGeom>
          <a:noFill/>
          <a:ln/>
        </p:spPr>
        <p:txBody>
          <a:bodyPr wrap="square" lIns="0" tIns="0" rIns="0" bIns="0" rtlCol="0" anchor="t"/>
          <a:lstStyle/>
          <a:p>
            <a:pPr indent="0" marL="0">
              <a:buNone/>
            </a:pPr>
            <a:r>
              <a:rPr lang="en-US" sz="2100" dirty="0">
                <a:solidFill>
                  <a:schemeClr val="bg1"/>
                </a:solidFill>
              </a:rPr>
              <a:t>où opèrent les plus grandes entreprises du secteur</a:t>
            </a:r>
            <a:endParaRPr lang="en-US" sz="2100" dirty="0"/>
          </a:p>
        </p:txBody>
      </p:sp>
      <p:sp>
        <p:nvSpPr>
          <p:cNvPr id="23" name="Text 17"/>
          <p:cNvSpPr txBox="1"/>
          <p:nvPr/>
        </p:nvSpPr>
        <p:spPr>
          <a:xfrm>
            <a:off x="548640" y="5943600"/>
            <a:ext cx="10058400" cy="457200"/>
          </a:xfrm>
          <a:prstGeom prst="rect">
            <a:avLst/>
          </a:prstGeom>
          <a:noFill/>
          <a:ln/>
        </p:spPr>
        <p:txBody>
          <a:bodyPr wrap="square" lIns="0" tIns="0" rIns="0" bIns="0" rtlCol="0" anchor="t"/>
          <a:lstStyle/>
          <a:p>
            <a:pPr indent="0" marL="0">
              <a:buNone/>
            </a:pPr>
            <a:r>
              <a:rPr lang="en-US" sz="2000" dirty="0">
                <a:solidFill>
                  <a:schemeClr val="bg2"/>
                </a:solidFill>
              </a:rPr>
              <a:t>Source : WFDSA (World Federation of Direct Selling Associations), chiffres arrondis</a:t>
            </a:r>
            <a:endParaRPr lang="en-US" sz="20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Où se concentre la vente directe ?</a:t>
            </a:r>
            <a:endParaRPr lang="en-US" sz="3600" dirty="0"/>
          </a:p>
        </p:txBody>
      </p:sp>
      <p:graphicFrame>
        <p:nvGraphicFramePr>
          <p:cNvPr id="3" name="Graphique premiers marchés" descr=""/>
          <p:cNvGraphicFramePr/>
          <p:nvPr/>
        </p:nvGraphicFramePr>
        <p:xfrm>
          <a:off x="548640" y="1371600"/>
          <a:ext cx="576072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Graphique régions" descr=""/>
          <p:cNvGraphicFramePr/>
          <p:nvPr/>
        </p:nvGraphicFramePr>
        <p:xfrm>
          <a:off x="6492240" y="1280160"/>
          <a:ext cx="5120640" cy="3840480"/>
        </p:xfrm>
        <a:graphic xmlns:a="http://schemas.openxmlformats.org/drawingml/2006/main">
          <a:graphicData uri="http://schemas.openxmlformats.org/drawingml/2006/chart">
            <c:chart xmlns:c="http://schemas.openxmlformats.org/drawingml/2006/chart" r:id="rId2"/>
          </a:graphicData>
        </a:graphic>
      </p:graphicFrame>
      <p:sp>
        <p:nvSpPr>
          <p:cNvPr id="5" name="Encadré Afrique"/>
          <p:cNvSpPr/>
          <p:nvPr/>
        </p:nvSpPr>
        <p:spPr>
          <a:xfrm>
            <a:off x="548640" y="5212080"/>
            <a:ext cx="11064240" cy="1051560"/>
          </a:xfrm>
          <a:prstGeom prst="roundRect">
            <a:avLst>
              <a:gd name="adj" fmla="val 10435"/>
            </a:avLst>
          </a:prstGeom>
          <a:solidFill>
            <a:schemeClr val="accent1"/>
          </a:solidFill>
          <a:ln/>
        </p:spPr>
      </p:sp>
      <p:sp>
        <p:nvSpPr>
          <p:cNvPr id="6" name="Afrique cercle"/>
          <p:cNvSpPr/>
          <p:nvPr/>
        </p:nvSpPr>
        <p:spPr>
          <a:xfrm>
            <a:off x="731520" y="5303520"/>
            <a:ext cx="868680" cy="868680"/>
          </a:xfrm>
          <a:prstGeom prst="ellipse">
            <a:avLst/>
          </a:prstGeom>
          <a:solidFill>
            <a:schemeClr val="tx2"/>
          </a:solidFill>
          <a:ln/>
        </p:spPr>
      </p:sp>
      <p:pic>
        <p:nvPicPr>
          <p:cNvPr id="7" name="Afrique icône" descr="Afrique">    </p:cNvPr>
          <p:cNvPicPr>
            <a:picLocks noChangeAspect="1"/>
          </p:cNvPicPr>
          <p:nvPr/>
        </p:nvPicPr>
        <p:blipFill>
          <a:blip r:embed="rId3"/>
          <a:stretch>
            <a:fillRect/>
          </a:stretch>
        </p:blipFill>
        <p:spPr>
          <a:xfrm>
            <a:off x="957377" y="5529377"/>
            <a:ext cx="416966" cy="416966"/>
          </a:xfrm>
          <a:prstGeom prst="rect">
            <a:avLst/>
          </a:prstGeom>
        </p:spPr>
      </p:pic>
      <p:sp>
        <p:nvSpPr>
          <p:cNvPr id="8" name="Text 3"/>
          <p:cNvSpPr txBox="1"/>
          <p:nvPr/>
        </p:nvSpPr>
        <p:spPr>
          <a:xfrm>
            <a:off x="1828800" y="5257800"/>
            <a:ext cx="9601200" cy="960120"/>
          </a:xfrm>
          <a:prstGeom prst="rect">
            <a:avLst/>
          </a:prstGeom>
          <a:noFill/>
          <a:ln/>
        </p:spPr>
        <p:txBody>
          <a:bodyPr wrap="square" lIns="0" tIns="0" rIns="0" bIns="0" rtlCol="0" anchor="ctr"/>
          <a:lstStyle/>
          <a:p>
            <a:pPr indent="0" marL="0">
              <a:buNone/>
            </a:pPr>
            <a:r>
              <a:rPr lang="en-US" sz="2200" b="1" dirty="0">
                <a:solidFill>
                  <a:schemeClr val="tx2"/>
                </a:solidFill>
              </a:rPr>
              <a:t>Afrique &amp; Moyen-Orient : ≈ 3 % des ventes mondiales seulement → un marché encore très peu exploité</a:t>
            </a:r>
            <a:endParaRPr lang="en-US" sz="22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1. Le réseau humain</a:t>
            </a:r>
            <a:endParaRPr lang="en-US" sz="3600" dirty="0"/>
          </a:p>
        </p:txBody>
      </p:sp>
      <p:sp>
        <p:nvSpPr>
          <p:cNvPr id="3" name="Text 1"/>
          <p:cNvSpPr txBox="1"/>
          <p:nvPr/>
        </p:nvSpPr>
        <p:spPr>
          <a:xfrm>
            <a:off x="548640" y="1463040"/>
            <a:ext cx="5486400" cy="548640"/>
          </a:xfrm>
          <a:prstGeom prst="rect">
            <a:avLst/>
          </a:prstGeom>
          <a:noFill/>
          <a:ln/>
        </p:spPr>
        <p:txBody>
          <a:bodyPr wrap="square" lIns="0" tIns="0" rIns="0" bIns="0" rtlCol="0" anchor="t"/>
          <a:lstStyle/>
          <a:p>
            <a:pPr indent="0" marL="0">
              <a:buNone/>
            </a:pPr>
            <a:r>
              <a:rPr lang="en-US" sz="2400" b="1" dirty="0">
                <a:solidFill>
                  <a:schemeClr val="tx2"/>
                </a:solidFill>
              </a:rPr>
              <a:t>Une personne seule possède :</a:t>
            </a:r>
            <a:endParaRPr lang="en-US" sz="2400" dirty="0"/>
          </a:p>
        </p:txBody>
      </p:sp>
      <p:sp>
        <p:nvSpPr>
          <p:cNvPr id="4" name="Son temps cercle"/>
          <p:cNvSpPr/>
          <p:nvPr/>
        </p:nvSpPr>
        <p:spPr>
          <a:xfrm>
            <a:off x="548640" y="2148840"/>
            <a:ext cx="594360" cy="594360"/>
          </a:xfrm>
          <a:prstGeom prst="ellipse">
            <a:avLst/>
          </a:prstGeom>
          <a:solidFill>
            <a:schemeClr val="accent1"/>
          </a:solidFill>
          <a:ln/>
        </p:spPr>
      </p:sp>
      <p:pic>
        <p:nvPicPr>
          <p:cNvPr id="5" name="Son temps icône" descr="Son temps">    </p:cNvPr>
          <p:cNvPicPr>
            <a:picLocks noChangeAspect="1"/>
          </p:cNvPicPr>
          <p:nvPr/>
        </p:nvPicPr>
        <p:blipFill>
          <a:blip r:embed="rId1"/>
          <a:stretch>
            <a:fillRect/>
          </a:stretch>
        </p:blipFill>
        <p:spPr>
          <a:xfrm>
            <a:off x="703174" y="2303374"/>
            <a:ext cx="285293" cy="285293"/>
          </a:xfrm>
          <a:prstGeom prst="rect">
            <a:avLst/>
          </a:prstGeom>
        </p:spPr>
      </p:pic>
      <p:sp>
        <p:nvSpPr>
          <p:cNvPr id="6" name="Text 3"/>
          <p:cNvSpPr txBox="1"/>
          <p:nvPr/>
        </p:nvSpPr>
        <p:spPr>
          <a:xfrm>
            <a:off x="1325880" y="2148840"/>
            <a:ext cx="4572000" cy="594360"/>
          </a:xfrm>
          <a:prstGeom prst="rect">
            <a:avLst/>
          </a:prstGeom>
          <a:noFill/>
          <a:ln/>
        </p:spPr>
        <p:txBody>
          <a:bodyPr wrap="square" lIns="0" tIns="0" rIns="0" bIns="0" rtlCol="0" anchor="ctr"/>
          <a:lstStyle/>
          <a:p>
            <a:pPr indent="0" marL="0">
              <a:buNone/>
            </a:pPr>
            <a:r>
              <a:rPr lang="en-US" sz="2200" dirty="0">
                <a:solidFill>
                  <a:schemeClr val="tx1"/>
                </a:solidFill>
              </a:rPr>
              <a:t>Son temps</a:t>
            </a:r>
            <a:endParaRPr lang="en-US" sz="2200" dirty="0"/>
          </a:p>
        </p:txBody>
      </p:sp>
      <p:sp>
        <p:nvSpPr>
          <p:cNvPr id="7" name="Ses compétences cercle"/>
          <p:cNvSpPr/>
          <p:nvPr/>
        </p:nvSpPr>
        <p:spPr>
          <a:xfrm>
            <a:off x="548640" y="2926080"/>
            <a:ext cx="594360" cy="594360"/>
          </a:xfrm>
          <a:prstGeom prst="ellipse">
            <a:avLst/>
          </a:prstGeom>
          <a:solidFill>
            <a:schemeClr val="accent1"/>
          </a:solidFill>
          <a:ln/>
        </p:spPr>
      </p:sp>
      <p:pic>
        <p:nvPicPr>
          <p:cNvPr id="8" name="Ses compétences icône" descr="Ses compétences">    </p:cNvPr>
          <p:cNvPicPr>
            <a:picLocks noChangeAspect="1"/>
          </p:cNvPicPr>
          <p:nvPr/>
        </p:nvPicPr>
        <p:blipFill>
          <a:blip r:embed="rId2"/>
          <a:stretch>
            <a:fillRect/>
          </a:stretch>
        </p:blipFill>
        <p:spPr>
          <a:xfrm>
            <a:off x="703174" y="3080614"/>
            <a:ext cx="285293" cy="285293"/>
          </a:xfrm>
          <a:prstGeom prst="rect">
            <a:avLst/>
          </a:prstGeom>
        </p:spPr>
      </p:pic>
      <p:sp>
        <p:nvSpPr>
          <p:cNvPr id="9" name="Text 5"/>
          <p:cNvSpPr txBox="1"/>
          <p:nvPr/>
        </p:nvSpPr>
        <p:spPr>
          <a:xfrm>
            <a:off x="1325880" y="2926080"/>
            <a:ext cx="4572000" cy="594360"/>
          </a:xfrm>
          <a:prstGeom prst="rect">
            <a:avLst/>
          </a:prstGeom>
          <a:noFill/>
          <a:ln/>
        </p:spPr>
        <p:txBody>
          <a:bodyPr wrap="square" lIns="0" tIns="0" rIns="0" bIns="0" rtlCol="0" anchor="ctr"/>
          <a:lstStyle/>
          <a:p>
            <a:pPr indent="0" marL="0">
              <a:buNone/>
            </a:pPr>
            <a:r>
              <a:rPr lang="en-US" sz="2200" dirty="0">
                <a:solidFill>
                  <a:schemeClr val="tx1"/>
                </a:solidFill>
              </a:rPr>
              <a:t>Ses compétences</a:t>
            </a:r>
            <a:endParaRPr lang="en-US" sz="2200" dirty="0"/>
          </a:p>
        </p:txBody>
      </p:sp>
      <p:sp>
        <p:nvSpPr>
          <p:cNvPr id="10" name="Ses contacts cercle"/>
          <p:cNvSpPr/>
          <p:nvPr/>
        </p:nvSpPr>
        <p:spPr>
          <a:xfrm>
            <a:off x="548640" y="3703320"/>
            <a:ext cx="594360" cy="594360"/>
          </a:xfrm>
          <a:prstGeom prst="ellipse">
            <a:avLst/>
          </a:prstGeom>
          <a:solidFill>
            <a:schemeClr val="accent1"/>
          </a:solidFill>
          <a:ln/>
        </p:spPr>
      </p:sp>
      <p:pic>
        <p:nvPicPr>
          <p:cNvPr id="11" name="Ses contacts icône" descr="Ses contacts">    </p:cNvPr>
          <p:cNvPicPr>
            <a:picLocks noChangeAspect="1"/>
          </p:cNvPicPr>
          <p:nvPr/>
        </p:nvPicPr>
        <p:blipFill>
          <a:blip r:embed="rId3"/>
          <a:stretch>
            <a:fillRect/>
          </a:stretch>
        </p:blipFill>
        <p:spPr>
          <a:xfrm>
            <a:off x="703174" y="3857854"/>
            <a:ext cx="285293" cy="285293"/>
          </a:xfrm>
          <a:prstGeom prst="rect">
            <a:avLst/>
          </a:prstGeom>
        </p:spPr>
      </p:pic>
      <p:sp>
        <p:nvSpPr>
          <p:cNvPr id="12" name="Text 7"/>
          <p:cNvSpPr txBox="1"/>
          <p:nvPr/>
        </p:nvSpPr>
        <p:spPr>
          <a:xfrm>
            <a:off x="1325880" y="3703320"/>
            <a:ext cx="4572000" cy="594360"/>
          </a:xfrm>
          <a:prstGeom prst="rect">
            <a:avLst/>
          </a:prstGeom>
          <a:noFill/>
          <a:ln/>
        </p:spPr>
        <p:txBody>
          <a:bodyPr wrap="square" lIns="0" tIns="0" rIns="0" bIns="0" rtlCol="0" anchor="ctr"/>
          <a:lstStyle/>
          <a:p>
            <a:pPr indent="0" marL="0">
              <a:buNone/>
            </a:pPr>
            <a:r>
              <a:rPr lang="en-US" sz="2200" dirty="0">
                <a:solidFill>
                  <a:schemeClr val="tx1"/>
                </a:solidFill>
              </a:rPr>
              <a:t>Ses contacts</a:t>
            </a:r>
            <a:endParaRPr lang="en-US" sz="2200" dirty="0"/>
          </a:p>
        </p:txBody>
      </p:sp>
      <p:sp>
        <p:nvSpPr>
          <p:cNvPr id="13" name="Sa capacité de travail cercle"/>
          <p:cNvSpPr/>
          <p:nvPr/>
        </p:nvSpPr>
        <p:spPr>
          <a:xfrm>
            <a:off x="548640" y="4480560"/>
            <a:ext cx="594360" cy="594360"/>
          </a:xfrm>
          <a:prstGeom prst="ellipse">
            <a:avLst/>
          </a:prstGeom>
          <a:solidFill>
            <a:schemeClr val="accent1"/>
          </a:solidFill>
          <a:ln/>
        </p:spPr>
      </p:sp>
      <p:pic>
        <p:nvPicPr>
          <p:cNvPr id="14" name="Sa capacité de travail icône" descr="Sa capacité de travail">    </p:cNvPr>
          <p:cNvPicPr>
            <a:picLocks noChangeAspect="1"/>
          </p:cNvPicPr>
          <p:nvPr/>
        </p:nvPicPr>
        <p:blipFill>
          <a:blip r:embed="rId4"/>
          <a:stretch>
            <a:fillRect/>
          </a:stretch>
        </p:blipFill>
        <p:spPr>
          <a:xfrm>
            <a:off x="703174" y="4635094"/>
            <a:ext cx="285293" cy="285293"/>
          </a:xfrm>
          <a:prstGeom prst="rect">
            <a:avLst/>
          </a:prstGeom>
        </p:spPr>
      </p:pic>
      <p:sp>
        <p:nvSpPr>
          <p:cNvPr id="15" name="Text 9"/>
          <p:cNvSpPr txBox="1"/>
          <p:nvPr/>
        </p:nvSpPr>
        <p:spPr>
          <a:xfrm>
            <a:off x="1325880" y="4480560"/>
            <a:ext cx="4572000" cy="594360"/>
          </a:xfrm>
          <a:prstGeom prst="rect">
            <a:avLst/>
          </a:prstGeom>
          <a:noFill/>
          <a:ln/>
        </p:spPr>
        <p:txBody>
          <a:bodyPr wrap="square" lIns="0" tIns="0" rIns="0" bIns="0" rtlCol="0" anchor="ctr"/>
          <a:lstStyle/>
          <a:p>
            <a:pPr indent="0" marL="0">
              <a:buNone/>
            </a:pPr>
            <a:r>
              <a:rPr lang="en-US" sz="2200" dirty="0">
                <a:solidFill>
                  <a:schemeClr val="tx1"/>
                </a:solidFill>
              </a:rPr>
              <a:t>Sa capacité de travail</a:t>
            </a:r>
            <a:endParaRPr lang="en-US" sz="2200" dirty="0"/>
          </a:p>
        </p:txBody>
      </p:sp>
      <p:sp>
        <p:nvSpPr>
          <p:cNvPr id="16" name="Encadré réseau"/>
          <p:cNvSpPr/>
          <p:nvPr/>
        </p:nvSpPr>
        <p:spPr>
          <a:xfrm>
            <a:off x="548640" y="5349240"/>
            <a:ext cx="5852160" cy="914400"/>
          </a:xfrm>
          <a:prstGeom prst="roundRect">
            <a:avLst>
              <a:gd name="adj" fmla="val 12000"/>
            </a:avLst>
          </a:prstGeom>
          <a:solidFill>
            <a:schemeClr val="bg2"/>
          </a:solidFill>
          <a:ln/>
        </p:spPr>
      </p:sp>
      <p:sp>
        <p:nvSpPr>
          <p:cNvPr id="17" name="Text 11"/>
          <p:cNvSpPr txBox="1"/>
          <p:nvPr/>
        </p:nvSpPr>
        <p:spPr>
          <a:xfrm>
            <a:off x="731520" y="5394960"/>
            <a:ext cx="5486400" cy="822960"/>
          </a:xfrm>
          <a:prstGeom prst="rect">
            <a:avLst/>
          </a:prstGeom>
          <a:noFill/>
          <a:ln/>
        </p:spPr>
        <p:txBody>
          <a:bodyPr wrap="square" lIns="0" tIns="0" rIns="0" bIns="0" rtlCol="0" anchor="ctr"/>
          <a:lstStyle/>
          <a:p>
            <a:pPr indent="0" marL="0">
              <a:buNone/>
            </a:pPr>
            <a:r>
              <a:rPr lang="en-US" sz="2000" dirty="0">
                <a:solidFill>
                  <a:schemeClr val="tx2"/>
                </a:solidFill>
              </a:rPr>
              <a:t>En réseau, elle collabore avec des personnes qui ont leurs propres compétences, contacts et énergie.</a:t>
            </a:r>
            <a:endParaRPr lang="en-US" sz="2000" dirty="0"/>
          </a:p>
        </p:txBody>
      </p:sp>
      <p:pic>
        <p:nvPicPr>
          <p:cNvPr id="18" name="Illustration cercles de contacts" descr="Une personne au centre reliée à ses contacts puis aux contacts de ses contacts">    </p:cNvPr>
          <p:cNvPicPr>
            <a:picLocks noChangeAspect="1"/>
          </p:cNvPicPr>
          <p:nvPr/>
        </p:nvPicPr>
        <p:blipFill>
          <a:blip r:embed="rId5"/>
          <a:stretch>
            <a:fillRect/>
          </a:stretch>
        </p:blipFill>
        <p:spPr>
          <a:xfrm>
            <a:off x="6766560" y="1325880"/>
            <a:ext cx="3749040" cy="3749040"/>
          </a:xfrm>
          <a:prstGeom prst="rect">
            <a:avLst/>
          </a:prstGeom>
        </p:spPr>
      </p:pic>
      <p:sp>
        <p:nvSpPr>
          <p:cNvPr id="19" name="Text 12"/>
          <p:cNvSpPr txBox="1"/>
          <p:nvPr/>
        </p:nvSpPr>
        <p:spPr>
          <a:xfrm>
            <a:off x="6583680" y="5166360"/>
            <a:ext cx="5029200" cy="1188720"/>
          </a:xfrm>
          <a:prstGeom prst="rect">
            <a:avLst/>
          </a:prstGeom>
          <a:noFill/>
          <a:ln/>
        </p:spPr>
        <p:txBody>
          <a:bodyPr wrap="square" lIns="0" tIns="0" rIns="0" bIns="0" rtlCol="0" anchor="t"/>
          <a:lstStyle/>
          <a:p>
            <a:pPr algn="ctr" indent="0" marL="0">
              <a:buNone/>
            </a:pPr>
            <a:r>
              <a:rPr lang="en-US" sz="3600" b="1" dirty="0">
                <a:solidFill>
                  <a:schemeClr val="accent2"/>
                </a:solidFill>
                <a:latin typeface="Cambria" pitchFamily="34" charset="0"/>
                <a:ea typeface="Cambria" pitchFamily="34" charset="-122"/>
                <a:cs typeface="Cambria" pitchFamily="34" charset="-120"/>
              </a:rPr>
              <a:t>100 × 100</a:t>
            </a:r>
            <a:endParaRPr lang="en-US" sz="2400" dirty="0"/>
          </a:p>
          <a:p>
            <a:pPr algn="ctr" indent="0" marL="0">
              <a:buNone/>
            </a:pPr>
            <a:r>
              <a:rPr lang="en-US" sz="2400" b="1" dirty="0">
                <a:solidFill>
                  <a:schemeClr val="tx2"/>
                </a:solidFill>
              </a:rPr>
              <a:t>= 10 000 connexions potentielles</a:t>
            </a:r>
            <a:endParaRPr lang="en-US" sz="24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2. La duplication</a:t>
            </a:r>
            <a:endParaRPr lang="en-US" sz="3600" dirty="0"/>
          </a:p>
        </p:txBody>
      </p:sp>
      <p:sp>
        <p:nvSpPr>
          <p:cNvPr id="3" name="Étape Je découvre"/>
          <p:cNvSpPr/>
          <p:nvPr/>
        </p:nvSpPr>
        <p:spPr>
          <a:xfrm>
            <a:off x="548640" y="1417320"/>
            <a:ext cx="1947672" cy="868680"/>
          </a:xfrm>
          <a:prstGeom prst="homePlate">
            <a:avLst/>
          </a:prstGeom>
          <a:solidFill>
            <a:schemeClr val="accent3"/>
          </a:solidFill>
          <a:ln/>
        </p:spPr>
      </p:sp>
      <p:sp>
        <p:nvSpPr>
          <p:cNvPr id="4" name="Text 2"/>
          <p:cNvSpPr txBox="1"/>
          <p:nvPr/>
        </p:nvSpPr>
        <p:spPr>
          <a:xfrm>
            <a:off x="658368" y="1417320"/>
            <a:ext cx="1463040" cy="868680"/>
          </a:xfrm>
          <a:prstGeom prst="rect">
            <a:avLst/>
          </a:prstGeom>
          <a:noFill/>
          <a:ln/>
        </p:spPr>
        <p:txBody>
          <a:bodyPr wrap="square" lIns="0" tIns="0" rIns="0" bIns="0" rtlCol="0" anchor="ctr"/>
          <a:lstStyle/>
          <a:p>
            <a:pPr algn="ctr" indent="0" marL="0">
              <a:buNone/>
            </a:pPr>
            <a:r>
              <a:rPr lang="en-US" sz="2000" b="1" dirty="0">
                <a:solidFill>
                  <a:schemeClr val="bg1"/>
                </a:solidFill>
              </a:rPr>
              <a:t>Je découvre</a:t>
            </a:r>
            <a:endParaRPr lang="en-US" sz="2000" dirty="0"/>
          </a:p>
        </p:txBody>
      </p:sp>
      <p:sp>
        <p:nvSpPr>
          <p:cNvPr id="5" name="Étape J'apprends"/>
          <p:cNvSpPr/>
          <p:nvPr/>
        </p:nvSpPr>
        <p:spPr>
          <a:xfrm>
            <a:off x="2404872" y="1417320"/>
            <a:ext cx="1947672" cy="868680"/>
          </a:xfrm>
          <a:prstGeom prst="chevron">
            <a:avLst/>
          </a:prstGeom>
          <a:solidFill>
            <a:schemeClr val="accent3"/>
          </a:solidFill>
          <a:ln/>
        </p:spPr>
      </p:sp>
      <p:sp>
        <p:nvSpPr>
          <p:cNvPr id="6" name="Text 4"/>
          <p:cNvSpPr txBox="1"/>
          <p:nvPr/>
        </p:nvSpPr>
        <p:spPr>
          <a:xfrm>
            <a:off x="2752344" y="1417320"/>
            <a:ext cx="1463040" cy="868680"/>
          </a:xfrm>
          <a:prstGeom prst="rect">
            <a:avLst/>
          </a:prstGeom>
          <a:noFill/>
          <a:ln/>
        </p:spPr>
        <p:txBody>
          <a:bodyPr wrap="square" lIns="0" tIns="0" rIns="0" bIns="0" rtlCol="0" anchor="ctr"/>
          <a:lstStyle/>
          <a:p>
            <a:pPr algn="ctr" indent="0" marL="0">
              <a:buNone/>
            </a:pPr>
            <a:r>
              <a:rPr lang="en-US" sz="2000" b="1" dirty="0">
                <a:solidFill>
                  <a:schemeClr val="bg1"/>
                </a:solidFill>
              </a:rPr>
              <a:t>J'apprends</a:t>
            </a:r>
            <a:endParaRPr lang="en-US" sz="2000" dirty="0"/>
          </a:p>
        </p:txBody>
      </p:sp>
      <p:sp>
        <p:nvSpPr>
          <p:cNvPr id="7" name="Étape Je fais"/>
          <p:cNvSpPr/>
          <p:nvPr/>
        </p:nvSpPr>
        <p:spPr>
          <a:xfrm>
            <a:off x="4261104" y="1417320"/>
            <a:ext cx="1947672" cy="868680"/>
          </a:xfrm>
          <a:prstGeom prst="chevron">
            <a:avLst/>
          </a:prstGeom>
          <a:solidFill>
            <a:schemeClr val="accent3"/>
          </a:solidFill>
          <a:ln/>
        </p:spPr>
      </p:sp>
      <p:sp>
        <p:nvSpPr>
          <p:cNvPr id="8" name="Text 6"/>
          <p:cNvSpPr txBox="1"/>
          <p:nvPr/>
        </p:nvSpPr>
        <p:spPr>
          <a:xfrm>
            <a:off x="4608576" y="1417320"/>
            <a:ext cx="1463040" cy="868680"/>
          </a:xfrm>
          <a:prstGeom prst="rect">
            <a:avLst/>
          </a:prstGeom>
          <a:noFill/>
          <a:ln/>
        </p:spPr>
        <p:txBody>
          <a:bodyPr wrap="square" lIns="0" tIns="0" rIns="0" bIns="0" rtlCol="0" anchor="ctr"/>
          <a:lstStyle/>
          <a:p>
            <a:pPr algn="ctr" indent="0" marL="0">
              <a:buNone/>
            </a:pPr>
            <a:r>
              <a:rPr lang="en-US" sz="2000" b="1" dirty="0">
                <a:solidFill>
                  <a:schemeClr val="bg1"/>
                </a:solidFill>
              </a:rPr>
              <a:t>Je fais</a:t>
            </a:r>
            <a:endParaRPr lang="en-US" sz="2000" dirty="0"/>
          </a:p>
        </p:txBody>
      </p:sp>
      <p:sp>
        <p:nvSpPr>
          <p:cNvPr id="9" name="Étape J'enseigne"/>
          <p:cNvSpPr/>
          <p:nvPr/>
        </p:nvSpPr>
        <p:spPr>
          <a:xfrm>
            <a:off x="6117336" y="1417320"/>
            <a:ext cx="1947672" cy="868680"/>
          </a:xfrm>
          <a:prstGeom prst="chevron">
            <a:avLst/>
          </a:prstGeom>
          <a:solidFill>
            <a:schemeClr val="accent2"/>
          </a:solidFill>
          <a:ln/>
        </p:spPr>
      </p:sp>
      <p:sp>
        <p:nvSpPr>
          <p:cNvPr id="10" name="Text 8"/>
          <p:cNvSpPr txBox="1"/>
          <p:nvPr/>
        </p:nvSpPr>
        <p:spPr>
          <a:xfrm>
            <a:off x="6464808" y="1417320"/>
            <a:ext cx="1463040" cy="868680"/>
          </a:xfrm>
          <a:prstGeom prst="rect">
            <a:avLst/>
          </a:prstGeom>
          <a:noFill/>
          <a:ln/>
        </p:spPr>
        <p:txBody>
          <a:bodyPr wrap="square" lIns="0" tIns="0" rIns="0" bIns="0" rtlCol="0" anchor="ctr"/>
          <a:lstStyle/>
          <a:p>
            <a:pPr algn="ctr" indent="0" marL="0">
              <a:buNone/>
            </a:pPr>
            <a:r>
              <a:rPr lang="en-US" sz="2000" b="1" dirty="0">
                <a:solidFill>
                  <a:schemeClr val="bg1"/>
                </a:solidFill>
              </a:rPr>
              <a:t>J'enseigne</a:t>
            </a:r>
            <a:endParaRPr lang="en-US" sz="2000" dirty="0"/>
          </a:p>
        </p:txBody>
      </p:sp>
      <p:sp>
        <p:nvSpPr>
          <p:cNvPr id="11" name="Étape L'autre fait"/>
          <p:cNvSpPr/>
          <p:nvPr/>
        </p:nvSpPr>
        <p:spPr>
          <a:xfrm>
            <a:off x="7973568" y="1417320"/>
            <a:ext cx="1947672" cy="868680"/>
          </a:xfrm>
          <a:prstGeom prst="chevron">
            <a:avLst/>
          </a:prstGeom>
          <a:solidFill>
            <a:schemeClr val="accent2"/>
          </a:solidFill>
          <a:ln/>
        </p:spPr>
      </p:sp>
      <p:sp>
        <p:nvSpPr>
          <p:cNvPr id="12" name="Text 10"/>
          <p:cNvSpPr txBox="1"/>
          <p:nvPr/>
        </p:nvSpPr>
        <p:spPr>
          <a:xfrm>
            <a:off x="8321040" y="1417320"/>
            <a:ext cx="1463040" cy="868680"/>
          </a:xfrm>
          <a:prstGeom prst="rect">
            <a:avLst/>
          </a:prstGeom>
          <a:noFill/>
          <a:ln/>
        </p:spPr>
        <p:txBody>
          <a:bodyPr wrap="square" lIns="0" tIns="0" rIns="0" bIns="0" rtlCol="0" anchor="ctr"/>
          <a:lstStyle/>
          <a:p>
            <a:pPr algn="ctr" indent="0" marL="0">
              <a:buNone/>
            </a:pPr>
            <a:r>
              <a:rPr lang="en-US" sz="2000" b="1" dirty="0">
                <a:solidFill>
                  <a:schemeClr val="bg1"/>
                </a:solidFill>
              </a:rPr>
              <a:t>L'autre fait</a:t>
            </a:r>
            <a:endParaRPr lang="en-US" sz="2000" dirty="0"/>
          </a:p>
        </p:txBody>
      </p:sp>
      <p:sp>
        <p:nvSpPr>
          <p:cNvPr id="13" name="Étape Il enseigne"/>
          <p:cNvSpPr/>
          <p:nvPr/>
        </p:nvSpPr>
        <p:spPr>
          <a:xfrm>
            <a:off x="9829800" y="1417320"/>
            <a:ext cx="1947672" cy="868680"/>
          </a:xfrm>
          <a:prstGeom prst="chevron">
            <a:avLst/>
          </a:prstGeom>
          <a:solidFill>
            <a:schemeClr val="accent2"/>
          </a:solidFill>
          <a:ln/>
        </p:spPr>
      </p:sp>
      <p:sp>
        <p:nvSpPr>
          <p:cNvPr id="14" name="Text 12"/>
          <p:cNvSpPr txBox="1"/>
          <p:nvPr/>
        </p:nvSpPr>
        <p:spPr>
          <a:xfrm>
            <a:off x="10177272" y="1417320"/>
            <a:ext cx="1463040" cy="868680"/>
          </a:xfrm>
          <a:prstGeom prst="rect">
            <a:avLst/>
          </a:prstGeom>
          <a:noFill/>
          <a:ln/>
        </p:spPr>
        <p:txBody>
          <a:bodyPr wrap="square" lIns="0" tIns="0" rIns="0" bIns="0" rtlCol="0" anchor="ctr"/>
          <a:lstStyle/>
          <a:p>
            <a:pPr algn="ctr" indent="0" marL="0">
              <a:buNone/>
            </a:pPr>
            <a:r>
              <a:rPr lang="en-US" sz="2000" b="1" dirty="0">
                <a:solidFill>
                  <a:schemeClr val="bg1"/>
                </a:solidFill>
              </a:rPr>
              <a:t>Il enseigne</a:t>
            </a:r>
            <a:endParaRPr lang="en-US" sz="2000" dirty="0"/>
          </a:p>
        </p:txBody>
      </p:sp>
      <p:pic>
        <p:nvPicPr>
          <p:cNvPr id="15" name="Illustration arbre de duplication" descr="Une personne en forme deux, qui en forment quatre, puis huit">    </p:cNvPr>
          <p:cNvPicPr>
            <a:picLocks noChangeAspect="1"/>
          </p:cNvPicPr>
          <p:nvPr/>
        </p:nvPicPr>
        <p:blipFill>
          <a:blip r:embed="rId1"/>
          <a:stretch>
            <a:fillRect/>
          </a:stretch>
        </p:blipFill>
        <p:spPr>
          <a:xfrm>
            <a:off x="548640" y="2606040"/>
            <a:ext cx="5303520" cy="3410712"/>
          </a:xfrm>
          <a:prstGeom prst="rect">
            <a:avLst/>
          </a:prstGeom>
        </p:spPr>
      </p:pic>
      <p:sp>
        <p:nvSpPr>
          <p:cNvPr id="16" name="Text 13"/>
          <p:cNvSpPr txBox="1"/>
          <p:nvPr/>
        </p:nvSpPr>
        <p:spPr>
          <a:xfrm>
            <a:off x="6309360" y="2606040"/>
            <a:ext cx="5303520" cy="2103120"/>
          </a:xfrm>
          <a:prstGeom prst="rect">
            <a:avLst/>
          </a:prstGeom>
          <a:noFill/>
          <a:ln/>
        </p:spPr>
        <p:txBody>
          <a:bodyPr wrap="square" lIns="0" tIns="0" rIns="0" bIns="0" rtlCol="0" anchor="t"/>
          <a:lstStyle/>
          <a:p>
            <a:pPr indent="0" marL="0">
              <a:spcAft>
                <a:spcPts val="1200"/>
              </a:spcAft>
              <a:buNone/>
            </a:pPr>
            <a:r>
              <a:rPr lang="en-US" sz="2200" dirty="0">
                <a:solidFill>
                  <a:schemeClr val="tx1"/>
                </a:solidFill>
              </a:rPr>
              <a:t>Emploi classique : on est payé surtout pour son propre travail.</a:t>
            </a:r>
            <a:endParaRPr lang="en-US" sz="2200" dirty="0"/>
          </a:p>
          <a:p>
            <a:pPr indent="0" marL="0">
              <a:buNone/>
            </a:pPr>
            <a:r>
              <a:rPr lang="en-US" sz="2200" b="1" dirty="0">
                <a:solidFill>
                  <a:schemeClr val="tx2"/>
                </a:solidFill>
              </a:rPr>
              <a:t>Réseau : on apprend aussi à transmettre une méthode simple que d'autres peuvent reproduire.</a:t>
            </a:r>
            <a:endParaRPr lang="en-US" sz="2200" dirty="0"/>
          </a:p>
        </p:txBody>
      </p:sp>
      <p:sp>
        <p:nvSpPr>
          <p:cNvPr id="17" name="Encadré condition"/>
          <p:cNvSpPr/>
          <p:nvPr/>
        </p:nvSpPr>
        <p:spPr>
          <a:xfrm>
            <a:off x="6309360" y="4846320"/>
            <a:ext cx="5303520" cy="1371600"/>
          </a:xfrm>
          <a:prstGeom prst="roundRect">
            <a:avLst>
              <a:gd name="adj" fmla="val 8000"/>
            </a:avLst>
          </a:prstGeom>
          <a:solidFill>
            <a:schemeClr val="bg2"/>
          </a:solidFill>
          <a:ln/>
        </p:spPr>
      </p:sp>
      <p:sp>
        <p:nvSpPr>
          <p:cNvPr id="18" name="Attention cercle"/>
          <p:cNvSpPr/>
          <p:nvPr/>
        </p:nvSpPr>
        <p:spPr>
          <a:xfrm>
            <a:off x="6492240" y="5074920"/>
            <a:ext cx="731520" cy="731520"/>
          </a:xfrm>
          <a:prstGeom prst="ellipse">
            <a:avLst/>
          </a:prstGeom>
          <a:solidFill>
            <a:schemeClr val="accent2"/>
          </a:solidFill>
          <a:ln/>
        </p:spPr>
      </p:sp>
      <p:pic>
        <p:nvPicPr>
          <p:cNvPr id="19" name="Attention icône" descr="Attention">    </p:cNvPr>
          <p:cNvPicPr>
            <a:picLocks noChangeAspect="1"/>
          </p:cNvPicPr>
          <p:nvPr/>
        </p:nvPicPr>
        <p:blipFill>
          <a:blip r:embed="rId2"/>
          <a:stretch>
            <a:fillRect/>
          </a:stretch>
        </p:blipFill>
        <p:spPr>
          <a:xfrm>
            <a:off x="6682435" y="5265115"/>
            <a:ext cx="351130" cy="351130"/>
          </a:xfrm>
          <a:prstGeom prst="rect">
            <a:avLst/>
          </a:prstGeom>
        </p:spPr>
      </p:pic>
      <p:sp>
        <p:nvSpPr>
          <p:cNvPr id="20" name="Text 16"/>
          <p:cNvSpPr txBox="1"/>
          <p:nvPr/>
        </p:nvSpPr>
        <p:spPr>
          <a:xfrm>
            <a:off x="7406640" y="4892040"/>
            <a:ext cx="4069080" cy="1280160"/>
          </a:xfrm>
          <a:prstGeom prst="rect">
            <a:avLst/>
          </a:prstGeom>
          <a:noFill/>
          <a:ln/>
        </p:spPr>
        <p:txBody>
          <a:bodyPr wrap="square" lIns="0" tIns="0" rIns="0" bIns="0" rtlCol="0" anchor="ctr"/>
          <a:lstStyle/>
          <a:p>
            <a:pPr indent="0" marL="0">
              <a:buNone/>
            </a:pPr>
            <a:r>
              <a:rPr lang="en-US" sz="2000" dirty="0">
                <a:solidFill>
                  <a:schemeClr val="tx1"/>
                </a:solidFill>
              </a:rPr>
              <a:t>La duplication crée un potentiel, mais demande formation, accompagnement, travail réel et constance.</a:t>
            </a:r>
            <a:endParaRPr lang="en-US" sz="20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3. Le travail en équipe</a:t>
            </a:r>
            <a:endParaRPr lang="en-US" sz="3600" dirty="0"/>
          </a:p>
        </p:txBody>
      </p:sp>
      <p:sp>
        <p:nvSpPr>
          <p:cNvPr id="3" name="Carte Partager les expériences"/>
          <p:cNvSpPr/>
          <p:nvPr/>
        </p:nvSpPr>
        <p:spPr>
          <a:xfrm>
            <a:off x="548640" y="1508760"/>
            <a:ext cx="2057400" cy="2194560"/>
          </a:xfrm>
          <a:prstGeom prst="roundRect">
            <a:avLst>
              <a:gd name="adj" fmla="val 5333"/>
            </a:avLst>
          </a:prstGeom>
          <a:solidFill>
            <a:schemeClr val="bg2"/>
          </a:solidFill>
          <a:ln/>
        </p:spPr>
      </p:sp>
      <p:sp>
        <p:nvSpPr>
          <p:cNvPr id="4" name="Partager les expériences cercle"/>
          <p:cNvSpPr/>
          <p:nvPr/>
        </p:nvSpPr>
        <p:spPr>
          <a:xfrm>
            <a:off x="1115568" y="1737360"/>
            <a:ext cx="914400" cy="914400"/>
          </a:xfrm>
          <a:prstGeom prst="ellipse">
            <a:avLst/>
          </a:prstGeom>
          <a:solidFill>
            <a:schemeClr val="accent3"/>
          </a:solidFill>
          <a:ln/>
        </p:spPr>
      </p:sp>
      <p:pic>
        <p:nvPicPr>
          <p:cNvPr id="5" name="Partager les expériences icône" descr="Partager les expériences">    </p:cNvPr>
          <p:cNvPicPr>
            <a:picLocks noChangeAspect="1"/>
          </p:cNvPicPr>
          <p:nvPr/>
        </p:nvPicPr>
        <p:blipFill>
          <a:blip r:embed="rId1"/>
          <a:stretch>
            <a:fillRect/>
          </a:stretch>
        </p:blipFill>
        <p:spPr>
          <a:xfrm>
            <a:off x="1353312" y="1975104"/>
            <a:ext cx="438912" cy="438912"/>
          </a:xfrm>
          <a:prstGeom prst="rect">
            <a:avLst/>
          </a:prstGeom>
        </p:spPr>
      </p:pic>
      <p:sp>
        <p:nvSpPr>
          <p:cNvPr id="6" name="Text 3"/>
          <p:cNvSpPr txBox="1"/>
          <p:nvPr/>
        </p:nvSpPr>
        <p:spPr>
          <a:xfrm>
            <a:off x="658368" y="2743200"/>
            <a:ext cx="1837944" cy="868680"/>
          </a:xfrm>
          <a:prstGeom prst="rect">
            <a:avLst/>
          </a:prstGeom>
          <a:noFill/>
          <a:ln/>
        </p:spPr>
        <p:txBody>
          <a:bodyPr wrap="square" lIns="0" tIns="0" rIns="0" bIns="0" rtlCol="0" anchor="ctr"/>
          <a:lstStyle/>
          <a:p>
            <a:pPr algn="ctr" indent="0" marL="0">
              <a:buNone/>
            </a:pPr>
            <a:r>
              <a:rPr lang="en-US" sz="2000" b="1" dirty="0">
                <a:solidFill>
                  <a:schemeClr val="tx2"/>
                </a:solidFill>
              </a:rPr>
              <a:t>Partager les expériences</a:t>
            </a:r>
            <a:endParaRPr lang="en-US" sz="2000" dirty="0"/>
          </a:p>
        </p:txBody>
      </p:sp>
      <p:sp>
        <p:nvSpPr>
          <p:cNvPr id="7" name="Carte Apprendre des autres"/>
          <p:cNvSpPr/>
          <p:nvPr/>
        </p:nvSpPr>
        <p:spPr>
          <a:xfrm>
            <a:off x="2788920" y="1508760"/>
            <a:ext cx="2057400" cy="2194560"/>
          </a:xfrm>
          <a:prstGeom prst="roundRect">
            <a:avLst>
              <a:gd name="adj" fmla="val 5333"/>
            </a:avLst>
          </a:prstGeom>
          <a:solidFill>
            <a:schemeClr val="bg2"/>
          </a:solidFill>
          <a:ln/>
        </p:spPr>
      </p:sp>
      <p:sp>
        <p:nvSpPr>
          <p:cNvPr id="8" name="Apprendre des autres cercle"/>
          <p:cNvSpPr/>
          <p:nvPr/>
        </p:nvSpPr>
        <p:spPr>
          <a:xfrm>
            <a:off x="3355848" y="1737360"/>
            <a:ext cx="914400" cy="914400"/>
          </a:xfrm>
          <a:prstGeom prst="ellipse">
            <a:avLst/>
          </a:prstGeom>
          <a:solidFill>
            <a:schemeClr val="accent3"/>
          </a:solidFill>
          <a:ln/>
        </p:spPr>
      </p:sp>
      <p:pic>
        <p:nvPicPr>
          <p:cNvPr id="9" name="Apprendre des autres icône" descr="Apprendre des autres">    </p:cNvPr>
          <p:cNvPicPr>
            <a:picLocks noChangeAspect="1"/>
          </p:cNvPicPr>
          <p:nvPr/>
        </p:nvPicPr>
        <p:blipFill>
          <a:blip r:embed="rId2"/>
          <a:stretch>
            <a:fillRect/>
          </a:stretch>
        </p:blipFill>
        <p:spPr>
          <a:xfrm>
            <a:off x="3593592" y="1975104"/>
            <a:ext cx="438912" cy="438912"/>
          </a:xfrm>
          <a:prstGeom prst="rect">
            <a:avLst/>
          </a:prstGeom>
        </p:spPr>
      </p:pic>
      <p:sp>
        <p:nvSpPr>
          <p:cNvPr id="10" name="Text 6"/>
          <p:cNvSpPr txBox="1"/>
          <p:nvPr/>
        </p:nvSpPr>
        <p:spPr>
          <a:xfrm>
            <a:off x="2898648" y="2743200"/>
            <a:ext cx="1837944" cy="868680"/>
          </a:xfrm>
          <a:prstGeom prst="rect">
            <a:avLst/>
          </a:prstGeom>
          <a:noFill/>
          <a:ln/>
        </p:spPr>
        <p:txBody>
          <a:bodyPr wrap="square" lIns="0" tIns="0" rIns="0" bIns="0" rtlCol="0" anchor="ctr"/>
          <a:lstStyle/>
          <a:p>
            <a:pPr algn="ctr" indent="0" marL="0">
              <a:buNone/>
            </a:pPr>
            <a:r>
              <a:rPr lang="en-US" sz="2000" b="1" dirty="0">
                <a:solidFill>
                  <a:schemeClr val="tx2"/>
                </a:solidFill>
              </a:rPr>
              <a:t>Apprendre des autres</a:t>
            </a:r>
            <a:endParaRPr lang="en-US" sz="2000" dirty="0"/>
          </a:p>
        </p:txBody>
      </p:sp>
      <p:sp>
        <p:nvSpPr>
          <p:cNvPr id="11" name="Carte S'encourager"/>
          <p:cNvSpPr/>
          <p:nvPr/>
        </p:nvSpPr>
        <p:spPr>
          <a:xfrm>
            <a:off x="5029200" y="1508760"/>
            <a:ext cx="2057400" cy="2194560"/>
          </a:xfrm>
          <a:prstGeom prst="roundRect">
            <a:avLst>
              <a:gd name="adj" fmla="val 5333"/>
            </a:avLst>
          </a:prstGeom>
          <a:solidFill>
            <a:schemeClr val="bg2"/>
          </a:solidFill>
          <a:ln/>
        </p:spPr>
      </p:sp>
      <p:sp>
        <p:nvSpPr>
          <p:cNvPr id="12" name="S'encourager cercle"/>
          <p:cNvSpPr/>
          <p:nvPr/>
        </p:nvSpPr>
        <p:spPr>
          <a:xfrm>
            <a:off x="5596128" y="1737360"/>
            <a:ext cx="914400" cy="914400"/>
          </a:xfrm>
          <a:prstGeom prst="ellipse">
            <a:avLst/>
          </a:prstGeom>
          <a:solidFill>
            <a:schemeClr val="accent3"/>
          </a:solidFill>
          <a:ln/>
        </p:spPr>
      </p:sp>
      <p:pic>
        <p:nvPicPr>
          <p:cNvPr id="13" name="S'encourager icône" descr="S'encourager">    </p:cNvPr>
          <p:cNvPicPr>
            <a:picLocks noChangeAspect="1"/>
          </p:cNvPicPr>
          <p:nvPr/>
        </p:nvPicPr>
        <p:blipFill>
          <a:blip r:embed="rId3"/>
          <a:stretch>
            <a:fillRect/>
          </a:stretch>
        </p:blipFill>
        <p:spPr>
          <a:xfrm>
            <a:off x="5833872" y="1975104"/>
            <a:ext cx="438912" cy="438912"/>
          </a:xfrm>
          <a:prstGeom prst="rect">
            <a:avLst/>
          </a:prstGeom>
        </p:spPr>
      </p:pic>
      <p:sp>
        <p:nvSpPr>
          <p:cNvPr id="14" name="Text 9"/>
          <p:cNvSpPr txBox="1"/>
          <p:nvPr/>
        </p:nvSpPr>
        <p:spPr>
          <a:xfrm>
            <a:off x="5138928" y="2743200"/>
            <a:ext cx="1837944" cy="868680"/>
          </a:xfrm>
          <a:prstGeom prst="rect">
            <a:avLst/>
          </a:prstGeom>
          <a:noFill/>
          <a:ln/>
        </p:spPr>
        <p:txBody>
          <a:bodyPr wrap="square" lIns="0" tIns="0" rIns="0" bIns="0" rtlCol="0" anchor="ctr"/>
          <a:lstStyle/>
          <a:p>
            <a:pPr algn="ctr" indent="0" marL="0">
              <a:buNone/>
            </a:pPr>
            <a:r>
              <a:rPr lang="en-US" sz="2000" b="1" dirty="0">
                <a:solidFill>
                  <a:schemeClr val="tx2"/>
                </a:solidFill>
              </a:rPr>
              <a:t>S'encourager</a:t>
            </a:r>
            <a:endParaRPr lang="en-US" sz="2000" dirty="0"/>
          </a:p>
        </p:txBody>
      </p:sp>
      <p:sp>
        <p:nvSpPr>
          <p:cNvPr id="15" name="Carte Développer ses compétences"/>
          <p:cNvSpPr/>
          <p:nvPr/>
        </p:nvSpPr>
        <p:spPr>
          <a:xfrm>
            <a:off x="548640" y="3886200"/>
            <a:ext cx="2057400" cy="2194560"/>
          </a:xfrm>
          <a:prstGeom prst="roundRect">
            <a:avLst>
              <a:gd name="adj" fmla="val 5333"/>
            </a:avLst>
          </a:prstGeom>
          <a:solidFill>
            <a:schemeClr val="bg2"/>
          </a:solidFill>
          <a:ln/>
        </p:spPr>
      </p:sp>
      <p:sp>
        <p:nvSpPr>
          <p:cNvPr id="16" name="Développer ses compétences cercle"/>
          <p:cNvSpPr/>
          <p:nvPr/>
        </p:nvSpPr>
        <p:spPr>
          <a:xfrm>
            <a:off x="1115568" y="4114800"/>
            <a:ext cx="914400" cy="914400"/>
          </a:xfrm>
          <a:prstGeom prst="ellipse">
            <a:avLst/>
          </a:prstGeom>
          <a:solidFill>
            <a:schemeClr val="accent3"/>
          </a:solidFill>
          <a:ln/>
        </p:spPr>
      </p:sp>
      <p:pic>
        <p:nvPicPr>
          <p:cNvPr id="17" name="Développer ses compétences icône" descr="Développer ses compétences">    </p:cNvPr>
          <p:cNvPicPr>
            <a:picLocks noChangeAspect="1"/>
          </p:cNvPicPr>
          <p:nvPr/>
        </p:nvPicPr>
        <p:blipFill>
          <a:blip r:embed="rId4"/>
          <a:stretch>
            <a:fillRect/>
          </a:stretch>
        </p:blipFill>
        <p:spPr>
          <a:xfrm>
            <a:off x="1353312" y="4352544"/>
            <a:ext cx="438912" cy="438912"/>
          </a:xfrm>
          <a:prstGeom prst="rect">
            <a:avLst/>
          </a:prstGeom>
        </p:spPr>
      </p:pic>
      <p:sp>
        <p:nvSpPr>
          <p:cNvPr id="18" name="Text 12"/>
          <p:cNvSpPr txBox="1"/>
          <p:nvPr/>
        </p:nvSpPr>
        <p:spPr>
          <a:xfrm>
            <a:off x="658368" y="5120640"/>
            <a:ext cx="1837944" cy="868680"/>
          </a:xfrm>
          <a:prstGeom prst="rect">
            <a:avLst/>
          </a:prstGeom>
          <a:noFill/>
          <a:ln/>
        </p:spPr>
        <p:txBody>
          <a:bodyPr wrap="square" lIns="0" tIns="0" rIns="0" bIns="0" rtlCol="0" anchor="ctr"/>
          <a:lstStyle/>
          <a:p>
            <a:pPr algn="ctr" indent="0" marL="0">
              <a:buNone/>
            </a:pPr>
            <a:r>
              <a:rPr lang="en-US" sz="2000" b="1" dirty="0">
                <a:solidFill>
                  <a:schemeClr val="tx2"/>
                </a:solidFill>
              </a:rPr>
              <a:t>Développer ses compétences</a:t>
            </a:r>
            <a:endParaRPr lang="en-US" sz="2000" dirty="0"/>
          </a:p>
        </p:txBody>
      </p:sp>
      <p:sp>
        <p:nvSpPr>
          <p:cNvPr id="19" name="Carte Résoudre les difficultés"/>
          <p:cNvSpPr/>
          <p:nvPr/>
        </p:nvSpPr>
        <p:spPr>
          <a:xfrm>
            <a:off x="2788920" y="3886200"/>
            <a:ext cx="2057400" cy="2194560"/>
          </a:xfrm>
          <a:prstGeom prst="roundRect">
            <a:avLst>
              <a:gd name="adj" fmla="val 5333"/>
            </a:avLst>
          </a:prstGeom>
          <a:solidFill>
            <a:schemeClr val="bg2"/>
          </a:solidFill>
          <a:ln/>
        </p:spPr>
      </p:sp>
      <p:sp>
        <p:nvSpPr>
          <p:cNvPr id="20" name="Résoudre les difficultés cercle"/>
          <p:cNvSpPr/>
          <p:nvPr/>
        </p:nvSpPr>
        <p:spPr>
          <a:xfrm>
            <a:off x="3355848" y="4114800"/>
            <a:ext cx="914400" cy="914400"/>
          </a:xfrm>
          <a:prstGeom prst="ellipse">
            <a:avLst/>
          </a:prstGeom>
          <a:solidFill>
            <a:schemeClr val="accent3"/>
          </a:solidFill>
          <a:ln/>
        </p:spPr>
      </p:sp>
      <p:pic>
        <p:nvPicPr>
          <p:cNvPr id="21" name="Résoudre les difficultés icône" descr="Résoudre les difficultés">    </p:cNvPr>
          <p:cNvPicPr>
            <a:picLocks noChangeAspect="1"/>
          </p:cNvPicPr>
          <p:nvPr/>
        </p:nvPicPr>
        <p:blipFill>
          <a:blip r:embed="rId5"/>
          <a:stretch>
            <a:fillRect/>
          </a:stretch>
        </p:blipFill>
        <p:spPr>
          <a:xfrm>
            <a:off x="3593592" y="4352544"/>
            <a:ext cx="438912" cy="438912"/>
          </a:xfrm>
          <a:prstGeom prst="rect">
            <a:avLst/>
          </a:prstGeom>
        </p:spPr>
      </p:pic>
      <p:sp>
        <p:nvSpPr>
          <p:cNvPr id="22" name="Text 15"/>
          <p:cNvSpPr txBox="1"/>
          <p:nvPr/>
        </p:nvSpPr>
        <p:spPr>
          <a:xfrm>
            <a:off x="2898648" y="5120640"/>
            <a:ext cx="1837944" cy="868680"/>
          </a:xfrm>
          <a:prstGeom prst="rect">
            <a:avLst/>
          </a:prstGeom>
          <a:noFill/>
          <a:ln/>
        </p:spPr>
        <p:txBody>
          <a:bodyPr wrap="square" lIns="0" tIns="0" rIns="0" bIns="0" rtlCol="0" anchor="ctr"/>
          <a:lstStyle/>
          <a:p>
            <a:pPr algn="ctr" indent="0" marL="0">
              <a:buNone/>
            </a:pPr>
            <a:r>
              <a:rPr lang="en-US" sz="2000" b="1" dirty="0">
                <a:solidFill>
                  <a:schemeClr val="tx2"/>
                </a:solidFill>
              </a:rPr>
              <a:t>Résoudre les difficultés</a:t>
            </a:r>
            <a:endParaRPr lang="en-US" sz="2000" dirty="0"/>
          </a:p>
        </p:txBody>
      </p:sp>
      <p:sp>
        <p:nvSpPr>
          <p:cNvPr id="23" name="Carte Célébrer les progrès"/>
          <p:cNvSpPr/>
          <p:nvPr/>
        </p:nvSpPr>
        <p:spPr>
          <a:xfrm>
            <a:off x="5029200" y="3886200"/>
            <a:ext cx="2057400" cy="2194560"/>
          </a:xfrm>
          <a:prstGeom prst="roundRect">
            <a:avLst>
              <a:gd name="adj" fmla="val 5333"/>
            </a:avLst>
          </a:prstGeom>
          <a:solidFill>
            <a:schemeClr val="bg2"/>
          </a:solidFill>
          <a:ln/>
        </p:spPr>
      </p:sp>
      <p:sp>
        <p:nvSpPr>
          <p:cNvPr id="24" name="Célébrer les progrès cercle"/>
          <p:cNvSpPr/>
          <p:nvPr/>
        </p:nvSpPr>
        <p:spPr>
          <a:xfrm>
            <a:off x="5596128" y="4114800"/>
            <a:ext cx="914400" cy="914400"/>
          </a:xfrm>
          <a:prstGeom prst="ellipse">
            <a:avLst/>
          </a:prstGeom>
          <a:solidFill>
            <a:schemeClr val="accent3"/>
          </a:solidFill>
          <a:ln/>
        </p:spPr>
      </p:sp>
      <p:pic>
        <p:nvPicPr>
          <p:cNvPr id="25" name="Célébrer les progrès icône" descr="Célébrer les progrès">    </p:cNvPr>
          <p:cNvPicPr>
            <a:picLocks noChangeAspect="1"/>
          </p:cNvPicPr>
          <p:nvPr/>
        </p:nvPicPr>
        <p:blipFill>
          <a:blip r:embed="rId6"/>
          <a:stretch>
            <a:fillRect/>
          </a:stretch>
        </p:blipFill>
        <p:spPr>
          <a:xfrm>
            <a:off x="5833872" y="4352544"/>
            <a:ext cx="438912" cy="438912"/>
          </a:xfrm>
          <a:prstGeom prst="rect">
            <a:avLst/>
          </a:prstGeom>
        </p:spPr>
      </p:pic>
      <p:sp>
        <p:nvSpPr>
          <p:cNvPr id="26" name="Text 18"/>
          <p:cNvSpPr txBox="1"/>
          <p:nvPr/>
        </p:nvSpPr>
        <p:spPr>
          <a:xfrm>
            <a:off x="5138928" y="5120640"/>
            <a:ext cx="1837944" cy="868680"/>
          </a:xfrm>
          <a:prstGeom prst="rect">
            <a:avLst/>
          </a:prstGeom>
          <a:noFill/>
          <a:ln/>
        </p:spPr>
        <p:txBody>
          <a:bodyPr wrap="square" lIns="0" tIns="0" rIns="0" bIns="0" rtlCol="0" anchor="ctr"/>
          <a:lstStyle/>
          <a:p>
            <a:pPr algn="ctr" indent="0" marL="0">
              <a:buNone/>
            </a:pPr>
            <a:r>
              <a:rPr lang="en-US" sz="2000" b="1" dirty="0">
                <a:solidFill>
                  <a:schemeClr val="tx2"/>
                </a:solidFill>
              </a:rPr>
              <a:t>Célébrer les progrès</a:t>
            </a:r>
            <a:endParaRPr lang="en-US" sz="2000" dirty="0"/>
          </a:p>
        </p:txBody>
      </p:sp>
      <p:sp>
        <p:nvSpPr>
          <p:cNvPr id="27" name="Encadré citation équipe"/>
          <p:cNvSpPr/>
          <p:nvPr/>
        </p:nvSpPr>
        <p:spPr>
          <a:xfrm>
            <a:off x="7452360" y="1508760"/>
            <a:ext cx="4160520" cy="4572000"/>
          </a:xfrm>
          <a:prstGeom prst="roundRect">
            <a:avLst>
              <a:gd name="adj" fmla="val 2637"/>
            </a:avLst>
          </a:prstGeom>
          <a:solidFill>
            <a:schemeClr val="tx2"/>
          </a:solidFill>
          <a:ln/>
        </p:spPr>
      </p:sp>
      <p:pic>
        <p:nvPicPr>
          <p:cNvPr id="28" name="Guillemets" descr="Citation">    </p:cNvPr>
          <p:cNvPicPr>
            <a:picLocks noChangeAspect="1"/>
          </p:cNvPicPr>
          <p:nvPr/>
        </p:nvPicPr>
        <p:blipFill>
          <a:blip r:embed="rId7"/>
          <a:stretch>
            <a:fillRect/>
          </a:stretch>
        </p:blipFill>
        <p:spPr>
          <a:xfrm>
            <a:off x="7726680" y="1737360"/>
            <a:ext cx="548640" cy="548640"/>
          </a:xfrm>
          <a:prstGeom prst="rect">
            <a:avLst/>
          </a:prstGeom>
        </p:spPr>
      </p:pic>
      <p:sp>
        <p:nvSpPr>
          <p:cNvPr id="29" name="Text 20"/>
          <p:cNvSpPr txBox="1"/>
          <p:nvPr/>
        </p:nvSpPr>
        <p:spPr>
          <a:xfrm>
            <a:off x="7726680" y="2423160"/>
            <a:ext cx="3657600" cy="1828800"/>
          </a:xfrm>
          <a:prstGeom prst="rect">
            <a:avLst/>
          </a:prstGeom>
          <a:noFill/>
          <a:ln/>
        </p:spPr>
        <p:txBody>
          <a:bodyPr wrap="square" lIns="0" tIns="0" rIns="0" bIns="0" rtlCol="0" anchor="t"/>
          <a:lstStyle/>
          <a:p>
            <a:pPr indent="0" marL="0">
              <a:buNone/>
            </a:pPr>
            <a:r>
              <a:rPr lang="en-US" sz="2400" b="1" i="1" dirty="0">
                <a:solidFill>
                  <a:schemeClr val="bg1"/>
                </a:solidFill>
                <a:latin typeface="Cambria" pitchFamily="34" charset="0"/>
                <a:ea typeface="Cambria" pitchFamily="34" charset="-122"/>
                <a:cs typeface="Cambria" pitchFamily="34" charset="-120"/>
              </a:rPr>
              <a:t>Seul, on peut aller vite. En équipe, on peut construire quelque chose de plus grand que soi.</a:t>
            </a:r>
            <a:endParaRPr lang="en-US" sz="2400" dirty="0"/>
          </a:p>
        </p:txBody>
      </p:sp>
      <p:sp>
        <p:nvSpPr>
          <p:cNvPr id="30" name="Text 21"/>
          <p:cNvSpPr txBox="1"/>
          <p:nvPr/>
        </p:nvSpPr>
        <p:spPr>
          <a:xfrm>
            <a:off x="7726680" y="4343400"/>
            <a:ext cx="3657600" cy="1554480"/>
          </a:xfrm>
          <a:prstGeom prst="rect">
            <a:avLst/>
          </a:prstGeom>
          <a:noFill/>
          <a:ln/>
        </p:spPr>
        <p:txBody>
          <a:bodyPr wrap="square" lIns="0" tIns="0" rIns="0" bIns="0" rtlCol="0" anchor="t"/>
          <a:lstStyle/>
          <a:p>
            <a:pPr indent="0" marL="0">
              <a:buNone/>
            </a:pPr>
            <a:r>
              <a:rPr lang="en-US" sz="2000" dirty="0">
                <a:solidFill>
                  <a:schemeClr val="accent1"/>
                </a:solidFill>
              </a:rPr>
              <a:t>Combien de personnes ont déjà abandonné simplement parce qu'elles étaient seules face aux difficultés ?</a:t>
            </a:r>
            <a:endParaRPr lang="en-US" sz="20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4. Le développement personnel</a:t>
            </a:r>
            <a:endParaRPr lang="en-US" sz="3600" dirty="0"/>
          </a:p>
        </p:txBody>
      </p:sp>
      <p:sp>
        <p:nvSpPr>
          <p:cNvPr id="3" name="Marche Présenter"/>
          <p:cNvSpPr/>
          <p:nvPr/>
        </p:nvSpPr>
        <p:spPr>
          <a:xfrm>
            <a:off x="548640" y="4846320"/>
            <a:ext cx="969264" cy="411480"/>
          </a:xfrm>
          <a:prstGeom prst="rect">
            <a:avLst/>
          </a:prstGeom>
          <a:solidFill>
            <a:schemeClr val="accent3"/>
          </a:solidFill>
          <a:ln/>
        </p:spPr>
      </p:sp>
      <p:sp>
        <p:nvSpPr>
          <p:cNvPr id="4" name="Text 2"/>
          <p:cNvSpPr txBox="1"/>
          <p:nvPr/>
        </p:nvSpPr>
        <p:spPr>
          <a:xfrm>
            <a:off x="457200" y="4343400"/>
            <a:ext cx="1152144" cy="457200"/>
          </a:xfrm>
          <a:prstGeom prst="rect">
            <a:avLst/>
          </a:prstGeom>
          <a:noFill/>
          <a:ln/>
        </p:spPr>
        <p:txBody>
          <a:bodyPr wrap="square" lIns="0" tIns="0" rIns="0" bIns="0" rtlCol="0" anchor="b"/>
          <a:lstStyle/>
          <a:p>
            <a:pPr algn="ctr" indent="0" marL="0">
              <a:buNone/>
            </a:pPr>
            <a:r>
              <a:rPr lang="en-US" sz="2000" b="1" dirty="0">
                <a:solidFill>
                  <a:schemeClr val="tx2"/>
                </a:solidFill>
              </a:rPr>
              <a:t>Présenter</a:t>
            </a:r>
            <a:endParaRPr lang="en-US" sz="2000" dirty="0"/>
          </a:p>
        </p:txBody>
      </p:sp>
      <p:sp>
        <p:nvSpPr>
          <p:cNvPr id="5" name="Marche Écouter"/>
          <p:cNvSpPr/>
          <p:nvPr/>
        </p:nvSpPr>
        <p:spPr>
          <a:xfrm>
            <a:off x="1572768" y="4343400"/>
            <a:ext cx="969264" cy="914400"/>
          </a:xfrm>
          <a:prstGeom prst="rect">
            <a:avLst/>
          </a:prstGeom>
          <a:solidFill>
            <a:schemeClr val="accent3"/>
          </a:solidFill>
          <a:ln/>
        </p:spPr>
      </p:sp>
      <p:sp>
        <p:nvSpPr>
          <p:cNvPr id="6" name="Text 4"/>
          <p:cNvSpPr txBox="1"/>
          <p:nvPr/>
        </p:nvSpPr>
        <p:spPr>
          <a:xfrm>
            <a:off x="1481328" y="3840480"/>
            <a:ext cx="1152144" cy="457200"/>
          </a:xfrm>
          <a:prstGeom prst="rect">
            <a:avLst/>
          </a:prstGeom>
          <a:noFill/>
          <a:ln/>
        </p:spPr>
        <p:txBody>
          <a:bodyPr wrap="square" lIns="0" tIns="0" rIns="0" bIns="0" rtlCol="0" anchor="b"/>
          <a:lstStyle/>
          <a:p>
            <a:pPr algn="ctr" indent="0" marL="0">
              <a:buNone/>
            </a:pPr>
            <a:r>
              <a:rPr lang="en-US" sz="2000" b="1" dirty="0">
                <a:solidFill>
                  <a:schemeClr val="tx2"/>
                </a:solidFill>
              </a:rPr>
              <a:t>Écouter</a:t>
            </a:r>
            <a:endParaRPr lang="en-US" sz="2000" dirty="0"/>
          </a:p>
        </p:txBody>
      </p:sp>
      <p:sp>
        <p:nvSpPr>
          <p:cNvPr id="7" name="Marche Répondre"/>
          <p:cNvSpPr/>
          <p:nvPr/>
        </p:nvSpPr>
        <p:spPr>
          <a:xfrm>
            <a:off x="2596896" y="3840480"/>
            <a:ext cx="969264" cy="1417320"/>
          </a:xfrm>
          <a:prstGeom prst="rect">
            <a:avLst/>
          </a:prstGeom>
          <a:solidFill>
            <a:schemeClr val="accent3"/>
          </a:solidFill>
          <a:ln/>
        </p:spPr>
      </p:sp>
      <p:sp>
        <p:nvSpPr>
          <p:cNvPr id="8" name="Text 6"/>
          <p:cNvSpPr txBox="1"/>
          <p:nvPr/>
        </p:nvSpPr>
        <p:spPr>
          <a:xfrm>
            <a:off x="2505456" y="3337560"/>
            <a:ext cx="1152144" cy="457200"/>
          </a:xfrm>
          <a:prstGeom prst="rect">
            <a:avLst/>
          </a:prstGeom>
          <a:noFill/>
          <a:ln/>
        </p:spPr>
        <p:txBody>
          <a:bodyPr wrap="square" lIns="0" tIns="0" rIns="0" bIns="0" rtlCol="0" anchor="b"/>
          <a:lstStyle/>
          <a:p>
            <a:pPr algn="ctr" indent="0" marL="0">
              <a:buNone/>
            </a:pPr>
            <a:r>
              <a:rPr lang="en-US" sz="2000" b="1" dirty="0">
                <a:solidFill>
                  <a:schemeClr val="tx2"/>
                </a:solidFill>
              </a:rPr>
              <a:t>Répondre</a:t>
            </a:r>
            <a:endParaRPr lang="en-US" sz="2000" dirty="0"/>
          </a:p>
        </p:txBody>
      </p:sp>
      <p:sp>
        <p:nvSpPr>
          <p:cNvPr id="9" name="Marche Suivre"/>
          <p:cNvSpPr/>
          <p:nvPr/>
        </p:nvSpPr>
        <p:spPr>
          <a:xfrm>
            <a:off x="3621024" y="3337560"/>
            <a:ext cx="969264" cy="1920240"/>
          </a:xfrm>
          <a:prstGeom prst="rect">
            <a:avLst/>
          </a:prstGeom>
          <a:solidFill>
            <a:schemeClr val="accent3"/>
          </a:solidFill>
          <a:ln/>
        </p:spPr>
      </p:sp>
      <p:sp>
        <p:nvSpPr>
          <p:cNvPr id="10" name="Text 8"/>
          <p:cNvSpPr txBox="1"/>
          <p:nvPr/>
        </p:nvSpPr>
        <p:spPr>
          <a:xfrm>
            <a:off x="3529584" y="2834640"/>
            <a:ext cx="1152144" cy="457200"/>
          </a:xfrm>
          <a:prstGeom prst="rect">
            <a:avLst/>
          </a:prstGeom>
          <a:noFill/>
          <a:ln/>
        </p:spPr>
        <p:txBody>
          <a:bodyPr wrap="square" lIns="0" tIns="0" rIns="0" bIns="0" rtlCol="0" anchor="b"/>
          <a:lstStyle/>
          <a:p>
            <a:pPr algn="ctr" indent="0" marL="0">
              <a:buNone/>
            </a:pPr>
            <a:r>
              <a:rPr lang="en-US" sz="2000" b="1" dirty="0">
                <a:solidFill>
                  <a:schemeClr val="tx2"/>
                </a:solidFill>
              </a:rPr>
              <a:t>Suivre</a:t>
            </a:r>
            <a:endParaRPr lang="en-US" sz="2000" dirty="0"/>
          </a:p>
        </p:txBody>
      </p:sp>
      <p:sp>
        <p:nvSpPr>
          <p:cNvPr id="11" name="Marche Former"/>
          <p:cNvSpPr/>
          <p:nvPr/>
        </p:nvSpPr>
        <p:spPr>
          <a:xfrm>
            <a:off x="4645152" y="2834640"/>
            <a:ext cx="969264" cy="2423160"/>
          </a:xfrm>
          <a:prstGeom prst="rect">
            <a:avLst/>
          </a:prstGeom>
          <a:solidFill>
            <a:schemeClr val="accent3"/>
          </a:solidFill>
          <a:ln/>
        </p:spPr>
      </p:sp>
      <p:sp>
        <p:nvSpPr>
          <p:cNvPr id="12" name="Text 10"/>
          <p:cNvSpPr txBox="1"/>
          <p:nvPr/>
        </p:nvSpPr>
        <p:spPr>
          <a:xfrm>
            <a:off x="4553712" y="2331720"/>
            <a:ext cx="1152144" cy="457200"/>
          </a:xfrm>
          <a:prstGeom prst="rect">
            <a:avLst/>
          </a:prstGeom>
          <a:noFill/>
          <a:ln/>
        </p:spPr>
        <p:txBody>
          <a:bodyPr wrap="square" lIns="0" tIns="0" rIns="0" bIns="0" rtlCol="0" anchor="b"/>
          <a:lstStyle/>
          <a:p>
            <a:pPr algn="ctr" indent="0" marL="0">
              <a:buNone/>
            </a:pPr>
            <a:r>
              <a:rPr lang="en-US" sz="2000" b="1" dirty="0">
                <a:solidFill>
                  <a:schemeClr val="tx2"/>
                </a:solidFill>
              </a:rPr>
              <a:t>Former</a:t>
            </a:r>
            <a:endParaRPr lang="en-US" sz="2000" dirty="0"/>
          </a:p>
        </p:txBody>
      </p:sp>
      <p:sp>
        <p:nvSpPr>
          <p:cNvPr id="13" name="Marche Diriger"/>
          <p:cNvSpPr/>
          <p:nvPr/>
        </p:nvSpPr>
        <p:spPr>
          <a:xfrm>
            <a:off x="5669280" y="2331720"/>
            <a:ext cx="969264" cy="2926080"/>
          </a:xfrm>
          <a:prstGeom prst="rect">
            <a:avLst/>
          </a:prstGeom>
          <a:solidFill>
            <a:schemeClr val="accent1"/>
          </a:solidFill>
          <a:ln/>
        </p:spPr>
      </p:sp>
      <p:sp>
        <p:nvSpPr>
          <p:cNvPr id="14" name="Text 12"/>
          <p:cNvSpPr txBox="1"/>
          <p:nvPr/>
        </p:nvSpPr>
        <p:spPr>
          <a:xfrm>
            <a:off x="5577840" y="1828800"/>
            <a:ext cx="1152144" cy="457200"/>
          </a:xfrm>
          <a:prstGeom prst="rect">
            <a:avLst/>
          </a:prstGeom>
          <a:noFill/>
          <a:ln/>
        </p:spPr>
        <p:txBody>
          <a:bodyPr wrap="square" lIns="0" tIns="0" rIns="0" bIns="0" rtlCol="0" anchor="b"/>
          <a:lstStyle/>
          <a:p>
            <a:pPr algn="ctr" indent="0" marL="0">
              <a:buNone/>
            </a:pPr>
            <a:r>
              <a:rPr lang="en-US" sz="2000" b="1" dirty="0">
                <a:solidFill>
                  <a:schemeClr val="tx2"/>
                </a:solidFill>
              </a:rPr>
              <a:t>Diriger</a:t>
            </a:r>
            <a:endParaRPr lang="en-US" sz="2000" dirty="0"/>
          </a:p>
        </p:txBody>
      </p:sp>
      <p:sp>
        <p:nvSpPr>
          <p:cNvPr id="15" name="Text 13"/>
          <p:cNvSpPr txBox="1"/>
          <p:nvPr/>
        </p:nvSpPr>
        <p:spPr>
          <a:xfrm>
            <a:off x="548640" y="1463040"/>
            <a:ext cx="6126480" cy="548640"/>
          </a:xfrm>
          <a:prstGeom prst="rect">
            <a:avLst/>
          </a:prstGeom>
          <a:noFill/>
          <a:ln/>
        </p:spPr>
        <p:txBody>
          <a:bodyPr wrap="square" lIns="0" tIns="0" rIns="0" bIns="0" rtlCol="0" anchor="t"/>
          <a:lstStyle/>
          <a:p>
            <a:pPr indent="0" marL="0">
              <a:buNone/>
            </a:pPr>
            <a:r>
              <a:rPr lang="en-US" sz="2200" i="1" dirty="0">
                <a:solidFill>
                  <a:schemeClr val="accent6"/>
                </a:solidFill>
              </a:rPr>
              <a:t>De débutant à leader, marche après marche</a:t>
            </a:r>
            <a:endParaRPr lang="en-US" sz="2200" dirty="0"/>
          </a:p>
        </p:txBody>
      </p:sp>
      <p:sp>
        <p:nvSpPr>
          <p:cNvPr id="16" name="Text 14"/>
          <p:cNvSpPr txBox="1"/>
          <p:nvPr/>
        </p:nvSpPr>
        <p:spPr>
          <a:xfrm>
            <a:off x="6949440" y="1463040"/>
            <a:ext cx="4663440" cy="502920"/>
          </a:xfrm>
          <a:prstGeom prst="rect">
            <a:avLst/>
          </a:prstGeom>
          <a:noFill/>
          <a:ln/>
        </p:spPr>
        <p:txBody>
          <a:bodyPr wrap="square" lIns="0" tIns="0" rIns="0" bIns="0" rtlCol="0" anchor="t"/>
          <a:lstStyle/>
          <a:p>
            <a:pPr indent="0" marL="0">
              <a:buNone/>
            </a:pPr>
            <a:r>
              <a:rPr lang="en-US" sz="2200" b="1" dirty="0">
                <a:solidFill>
                  <a:schemeClr val="tx2"/>
                </a:solidFill>
              </a:rPr>
              <a:t>Compétences développées :</a:t>
            </a:r>
            <a:endParaRPr lang="en-US" sz="2200" dirty="0"/>
          </a:p>
        </p:txBody>
      </p:sp>
      <p:sp>
        <p:nvSpPr>
          <p:cNvPr id="17" name="Compétence Communication"/>
          <p:cNvSpPr/>
          <p:nvPr/>
        </p:nvSpPr>
        <p:spPr>
          <a:xfrm>
            <a:off x="6949440" y="2057400"/>
            <a:ext cx="2286000" cy="512064"/>
          </a:xfrm>
          <a:prstGeom prst="roundRect">
            <a:avLst>
              <a:gd name="adj" fmla="val 21429"/>
            </a:avLst>
          </a:prstGeom>
          <a:solidFill>
            <a:schemeClr val="bg2"/>
          </a:solidFill>
          <a:ln/>
        </p:spPr>
      </p:sp>
      <p:sp>
        <p:nvSpPr>
          <p:cNvPr id="18" name="Text 16"/>
          <p:cNvSpPr txBox="1"/>
          <p:nvPr/>
        </p:nvSpPr>
        <p:spPr>
          <a:xfrm>
            <a:off x="6949440" y="2057400"/>
            <a:ext cx="2286000" cy="512064"/>
          </a:xfrm>
          <a:prstGeom prst="rect">
            <a:avLst/>
          </a:prstGeom>
          <a:noFill/>
          <a:ln/>
        </p:spPr>
        <p:txBody>
          <a:bodyPr wrap="square" lIns="0" tIns="0" rIns="0" bIns="0" rtlCol="0" anchor="ctr"/>
          <a:lstStyle/>
          <a:p>
            <a:pPr algn="ctr" indent="0" marL="0">
              <a:buNone/>
            </a:pPr>
            <a:r>
              <a:rPr lang="en-US" sz="2000" dirty="0">
                <a:solidFill>
                  <a:schemeClr val="tx2"/>
                </a:solidFill>
              </a:rPr>
              <a:t>Communication</a:t>
            </a:r>
            <a:endParaRPr lang="en-US" sz="2000" dirty="0"/>
          </a:p>
        </p:txBody>
      </p:sp>
      <p:sp>
        <p:nvSpPr>
          <p:cNvPr id="19" name="Compétence Prise de parole"/>
          <p:cNvSpPr/>
          <p:nvPr/>
        </p:nvSpPr>
        <p:spPr>
          <a:xfrm>
            <a:off x="9326880" y="2057400"/>
            <a:ext cx="2286000" cy="512064"/>
          </a:xfrm>
          <a:prstGeom prst="roundRect">
            <a:avLst>
              <a:gd name="adj" fmla="val 21429"/>
            </a:avLst>
          </a:prstGeom>
          <a:solidFill>
            <a:schemeClr val="bg2"/>
          </a:solidFill>
          <a:ln/>
        </p:spPr>
      </p:sp>
      <p:sp>
        <p:nvSpPr>
          <p:cNvPr id="20" name="Text 18"/>
          <p:cNvSpPr txBox="1"/>
          <p:nvPr/>
        </p:nvSpPr>
        <p:spPr>
          <a:xfrm>
            <a:off x="9326880" y="2057400"/>
            <a:ext cx="2286000" cy="512064"/>
          </a:xfrm>
          <a:prstGeom prst="rect">
            <a:avLst/>
          </a:prstGeom>
          <a:noFill/>
          <a:ln/>
        </p:spPr>
        <p:txBody>
          <a:bodyPr wrap="square" lIns="0" tIns="0" rIns="0" bIns="0" rtlCol="0" anchor="ctr"/>
          <a:lstStyle/>
          <a:p>
            <a:pPr algn="ctr" indent="0" marL="0">
              <a:buNone/>
            </a:pPr>
            <a:r>
              <a:rPr lang="en-US" sz="2000" dirty="0">
                <a:solidFill>
                  <a:schemeClr val="tx2"/>
                </a:solidFill>
              </a:rPr>
              <a:t>Prise de parole</a:t>
            </a:r>
            <a:endParaRPr lang="en-US" sz="2000" dirty="0"/>
          </a:p>
        </p:txBody>
      </p:sp>
      <p:sp>
        <p:nvSpPr>
          <p:cNvPr id="21" name="Compétence Écoute"/>
          <p:cNvSpPr/>
          <p:nvPr/>
        </p:nvSpPr>
        <p:spPr>
          <a:xfrm>
            <a:off x="6949440" y="2679192"/>
            <a:ext cx="2286000" cy="512064"/>
          </a:xfrm>
          <a:prstGeom prst="roundRect">
            <a:avLst>
              <a:gd name="adj" fmla="val 21429"/>
            </a:avLst>
          </a:prstGeom>
          <a:solidFill>
            <a:schemeClr val="bg2"/>
          </a:solidFill>
          <a:ln/>
        </p:spPr>
      </p:sp>
      <p:sp>
        <p:nvSpPr>
          <p:cNvPr id="22" name="Text 20"/>
          <p:cNvSpPr txBox="1"/>
          <p:nvPr/>
        </p:nvSpPr>
        <p:spPr>
          <a:xfrm>
            <a:off x="6949440" y="2679192"/>
            <a:ext cx="2286000" cy="512064"/>
          </a:xfrm>
          <a:prstGeom prst="rect">
            <a:avLst/>
          </a:prstGeom>
          <a:noFill/>
          <a:ln/>
        </p:spPr>
        <p:txBody>
          <a:bodyPr wrap="square" lIns="0" tIns="0" rIns="0" bIns="0" rtlCol="0" anchor="ctr"/>
          <a:lstStyle/>
          <a:p>
            <a:pPr algn="ctr" indent="0" marL="0">
              <a:buNone/>
            </a:pPr>
            <a:r>
              <a:rPr lang="en-US" sz="2000" dirty="0">
                <a:solidFill>
                  <a:schemeClr val="tx2"/>
                </a:solidFill>
              </a:rPr>
              <a:t>Écoute</a:t>
            </a:r>
            <a:endParaRPr lang="en-US" sz="2000" dirty="0"/>
          </a:p>
        </p:txBody>
      </p:sp>
      <p:sp>
        <p:nvSpPr>
          <p:cNvPr id="23" name="Compétence Gestion du temps"/>
          <p:cNvSpPr/>
          <p:nvPr/>
        </p:nvSpPr>
        <p:spPr>
          <a:xfrm>
            <a:off x="9326880" y="2679192"/>
            <a:ext cx="2286000" cy="512064"/>
          </a:xfrm>
          <a:prstGeom prst="roundRect">
            <a:avLst>
              <a:gd name="adj" fmla="val 21429"/>
            </a:avLst>
          </a:prstGeom>
          <a:solidFill>
            <a:schemeClr val="bg2"/>
          </a:solidFill>
          <a:ln/>
        </p:spPr>
      </p:sp>
      <p:sp>
        <p:nvSpPr>
          <p:cNvPr id="24" name="Text 22"/>
          <p:cNvSpPr txBox="1"/>
          <p:nvPr/>
        </p:nvSpPr>
        <p:spPr>
          <a:xfrm>
            <a:off x="9326880" y="2679192"/>
            <a:ext cx="2286000" cy="512064"/>
          </a:xfrm>
          <a:prstGeom prst="rect">
            <a:avLst/>
          </a:prstGeom>
          <a:noFill/>
          <a:ln/>
        </p:spPr>
        <p:txBody>
          <a:bodyPr wrap="square" lIns="0" tIns="0" rIns="0" bIns="0" rtlCol="0" anchor="ctr"/>
          <a:lstStyle/>
          <a:p>
            <a:pPr algn="ctr" indent="0" marL="0">
              <a:buNone/>
            </a:pPr>
            <a:r>
              <a:rPr lang="en-US" sz="2000" dirty="0">
                <a:solidFill>
                  <a:schemeClr val="tx2"/>
                </a:solidFill>
              </a:rPr>
              <a:t>Gestion du temps</a:t>
            </a:r>
            <a:endParaRPr lang="en-US" sz="2000" dirty="0"/>
          </a:p>
        </p:txBody>
      </p:sp>
      <p:sp>
        <p:nvSpPr>
          <p:cNvPr id="25" name="Compétence Leadership"/>
          <p:cNvSpPr/>
          <p:nvPr/>
        </p:nvSpPr>
        <p:spPr>
          <a:xfrm>
            <a:off x="6949440" y="3300984"/>
            <a:ext cx="2286000" cy="512064"/>
          </a:xfrm>
          <a:prstGeom prst="roundRect">
            <a:avLst>
              <a:gd name="adj" fmla="val 21429"/>
            </a:avLst>
          </a:prstGeom>
          <a:solidFill>
            <a:schemeClr val="bg2"/>
          </a:solidFill>
          <a:ln/>
        </p:spPr>
      </p:sp>
      <p:sp>
        <p:nvSpPr>
          <p:cNvPr id="26" name="Text 24"/>
          <p:cNvSpPr txBox="1"/>
          <p:nvPr/>
        </p:nvSpPr>
        <p:spPr>
          <a:xfrm>
            <a:off x="6949440" y="3300984"/>
            <a:ext cx="2286000" cy="512064"/>
          </a:xfrm>
          <a:prstGeom prst="rect">
            <a:avLst/>
          </a:prstGeom>
          <a:noFill/>
          <a:ln/>
        </p:spPr>
        <p:txBody>
          <a:bodyPr wrap="square" lIns="0" tIns="0" rIns="0" bIns="0" rtlCol="0" anchor="ctr"/>
          <a:lstStyle/>
          <a:p>
            <a:pPr algn="ctr" indent="0" marL="0">
              <a:buNone/>
            </a:pPr>
            <a:r>
              <a:rPr lang="en-US" sz="2000" dirty="0">
                <a:solidFill>
                  <a:schemeClr val="tx2"/>
                </a:solidFill>
              </a:rPr>
              <a:t>Leadership</a:t>
            </a:r>
            <a:endParaRPr lang="en-US" sz="2000" dirty="0"/>
          </a:p>
        </p:txBody>
      </p:sp>
      <p:sp>
        <p:nvSpPr>
          <p:cNvPr id="27" name="Compétence Gestion du rejet"/>
          <p:cNvSpPr/>
          <p:nvPr/>
        </p:nvSpPr>
        <p:spPr>
          <a:xfrm>
            <a:off x="9326880" y="3300984"/>
            <a:ext cx="2286000" cy="512064"/>
          </a:xfrm>
          <a:prstGeom prst="roundRect">
            <a:avLst>
              <a:gd name="adj" fmla="val 21429"/>
            </a:avLst>
          </a:prstGeom>
          <a:solidFill>
            <a:schemeClr val="bg2"/>
          </a:solidFill>
          <a:ln/>
        </p:spPr>
      </p:sp>
      <p:sp>
        <p:nvSpPr>
          <p:cNvPr id="28" name="Text 26"/>
          <p:cNvSpPr txBox="1"/>
          <p:nvPr/>
        </p:nvSpPr>
        <p:spPr>
          <a:xfrm>
            <a:off x="9326880" y="3300984"/>
            <a:ext cx="2286000" cy="512064"/>
          </a:xfrm>
          <a:prstGeom prst="rect">
            <a:avLst/>
          </a:prstGeom>
          <a:noFill/>
          <a:ln/>
        </p:spPr>
        <p:txBody>
          <a:bodyPr wrap="square" lIns="0" tIns="0" rIns="0" bIns="0" rtlCol="0" anchor="ctr"/>
          <a:lstStyle/>
          <a:p>
            <a:pPr algn="ctr" indent="0" marL="0">
              <a:buNone/>
            </a:pPr>
            <a:r>
              <a:rPr lang="en-US" sz="2000" dirty="0">
                <a:solidFill>
                  <a:schemeClr val="tx2"/>
                </a:solidFill>
              </a:rPr>
              <a:t>Gestion du rejet</a:t>
            </a:r>
            <a:endParaRPr lang="en-US" sz="2000" dirty="0"/>
          </a:p>
        </p:txBody>
      </p:sp>
      <p:sp>
        <p:nvSpPr>
          <p:cNvPr id="29" name="Compétence Discipline"/>
          <p:cNvSpPr/>
          <p:nvPr/>
        </p:nvSpPr>
        <p:spPr>
          <a:xfrm>
            <a:off x="6949440" y="3922776"/>
            <a:ext cx="2286000" cy="512064"/>
          </a:xfrm>
          <a:prstGeom prst="roundRect">
            <a:avLst>
              <a:gd name="adj" fmla="val 21429"/>
            </a:avLst>
          </a:prstGeom>
          <a:solidFill>
            <a:schemeClr val="bg2"/>
          </a:solidFill>
          <a:ln/>
        </p:spPr>
      </p:sp>
      <p:sp>
        <p:nvSpPr>
          <p:cNvPr id="30" name="Text 28"/>
          <p:cNvSpPr txBox="1"/>
          <p:nvPr/>
        </p:nvSpPr>
        <p:spPr>
          <a:xfrm>
            <a:off x="6949440" y="3922776"/>
            <a:ext cx="2286000" cy="512064"/>
          </a:xfrm>
          <a:prstGeom prst="rect">
            <a:avLst/>
          </a:prstGeom>
          <a:noFill/>
          <a:ln/>
        </p:spPr>
        <p:txBody>
          <a:bodyPr wrap="square" lIns="0" tIns="0" rIns="0" bIns="0" rtlCol="0" anchor="ctr"/>
          <a:lstStyle/>
          <a:p>
            <a:pPr algn="ctr" indent="0" marL="0">
              <a:buNone/>
            </a:pPr>
            <a:r>
              <a:rPr lang="en-US" sz="2000" dirty="0">
                <a:solidFill>
                  <a:schemeClr val="tx2"/>
                </a:solidFill>
              </a:rPr>
              <a:t>Discipline</a:t>
            </a:r>
            <a:endParaRPr lang="en-US" sz="2000" dirty="0"/>
          </a:p>
        </p:txBody>
      </p:sp>
      <p:sp>
        <p:nvSpPr>
          <p:cNvPr id="31" name="Compétence Confiance en soi"/>
          <p:cNvSpPr/>
          <p:nvPr/>
        </p:nvSpPr>
        <p:spPr>
          <a:xfrm>
            <a:off x="9326880" y="3922776"/>
            <a:ext cx="2286000" cy="512064"/>
          </a:xfrm>
          <a:prstGeom prst="roundRect">
            <a:avLst>
              <a:gd name="adj" fmla="val 21429"/>
            </a:avLst>
          </a:prstGeom>
          <a:solidFill>
            <a:schemeClr val="bg2"/>
          </a:solidFill>
          <a:ln/>
        </p:spPr>
      </p:sp>
      <p:sp>
        <p:nvSpPr>
          <p:cNvPr id="32" name="Text 30"/>
          <p:cNvSpPr txBox="1"/>
          <p:nvPr/>
        </p:nvSpPr>
        <p:spPr>
          <a:xfrm>
            <a:off x="9326880" y="3922776"/>
            <a:ext cx="2286000" cy="512064"/>
          </a:xfrm>
          <a:prstGeom prst="rect">
            <a:avLst/>
          </a:prstGeom>
          <a:noFill/>
          <a:ln/>
        </p:spPr>
        <p:txBody>
          <a:bodyPr wrap="square" lIns="0" tIns="0" rIns="0" bIns="0" rtlCol="0" anchor="ctr"/>
          <a:lstStyle/>
          <a:p>
            <a:pPr algn="ctr" indent="0" marL="0">
              <a:buNone/>
            </a:pPr>
            <a:r>
              <a:rPr lang="en-US" sz="2000" dirty="0">
                <a:solidFill>
                  <a:schemeClr val="tx2"/>
                </a:solidFill>
              </a:rPr>
              <a:t>Confiance en soi</a:t>
            </a:r>
            <a:endParaRPr lang="en-US" sz="2000" dirty="0"/>
          </a:p>
        </p:txBody>
      </p:sp>
      <p:sp>
        <p:nvSpPr>
          <p:cNvPr id="33" name="Compétence Former les autres"/>
          <p:cNvSpPr/>
          <p:nvPr/>
        </p:nvSpPr>
        <p:spPr>
          <a:xfrm>
            <a:off x="6949440" y="4544568"/>
            <a:ext cx="4663440" cy="512064"/>
          </a:xfrm>
          <a:prstGeom prst="roundRect">
            <a:avLst>
              <a:gd name="adj" fmla="val 21429"/>
            </a:avLst>
          </a:prstGeom>
          <a:solidFill>
            <a:schemeClr val="bg2"/>
          </a:solidFill>
          <a:ln/>
        </p:spPr>
      </p:sp>
      <p:sp>
        <p:nvSpPr>
          <p:cNvPr id="34" name="Text 32"/>
          <p:cNvSpPr txBox="1"/>
          <p:nvPr/>
        </p:nvSpPr>
        <p:spPr>
          <a:xfrm>
            <a:off x="6949440" y="4544568"/>
            <a:ext cx="4663440" cy="512064"/>
          </a:xfrm>
          <a:prstGeom prst="rect">
            <a:avLst/>
          </a:prstGeom>
          <a:noFill/>
          <a:ln/>
        </p:spPr>
        <p:txBody>
          <a:bodyPr wrap="square" lIns="0" tIns="0" rIns="0" bIns="0" rtlCol="0" anchor="ctr"/>
          <a:lstStyle/>
          <a:p>
            <a:pPr algn="ctr" indent="0" marL="0">
              <a:buNone/>
            </a:pPr>
            <a:r>
              <a:rPr lang="en-US" sz="2000" dirty="0">
                <a:solidFill>
                  <a:schemeClr val="tx2"/>
                </a:solidFill>
              </a:rPr>
              <a:t>Former les autres</a:t>
            </a:r>
            <a:endParaRPr lang="en-US" sz="2000" dirty="0"/>
          </a:p>
        </p:txBody>
      </p:sp>
      <p:sp>
        <p:nvSpPr>
          <p:cNvPr id="35" name="Encadré citation développement"/>
          <p:cNvSpPr/>
          <p:nvPr/>
        </p:nvSpPr>
        <p:spPr>
          <a:xfrm>
            <a:off x="548640" y="5486400"/>
            <a:ext cx="11064240" cy="777240"/>
          </a:xfrm>
          <a:prstGeom prst="roundRect">
            <a:avLst>
              <a:gd name="adj" fmla="val 14118"/>
            </a:avLst>
          </a:prstGeom>
          <a:solidFill>
            <a:schemeClr val="tx2"/>
          </a:solidFill>
          <a:ln/>
        </p:spPr>
      </p:sp>
      <p:sp>
        <p:nvSpPr>
          <p:cNvPr id="36" name="Text 34"/>
          <p:cNvSpPr txBox="1"/>
          <p:nvPr/>
        </p:nvSpPr>
        <p:spPr>
          <a:xfrm>
            <a:off x="777240" y="5486400"/>
            <a:ext cx="10607040" cy="777240"/>
          </a:xfrm>
          <a:prstGeom prst="rect">
            <a:avLst/>
          </a:prstGeom>
          <a:noFill/>
          <a:ln/>
        </p:spPr>
        <p:txBody>
          <a:bodyPr wrap="square" lIns="0" tIns="0" rIns="0" bIns="0" rtlCol="0" anchor="ctr"/>
          <a:lstStyle/>
          <a:p>
            <a:pPr indent="0" marL="0">
              <a:buNone/>
            </a:pPr>
            <a:r>
              <a:rPr lang="en-US" sz="2100" i="1" dirty="0">
                <a:solidFill>
                  <a:schemeClr val="bg1"/>
                </a:solidFill>
              </a:rPr>
              <a:t>« Le premier produit que le marketing de réseau nous fait développer, ce n'est pas notre chiffre d'affaires. C'est nous-mêmes. »</a:t>
            </a:r>
            <a:endParaRPr lang="en-US" sz="21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5. Le temps et la constance</a:t>
            </a:r>
            <a:endParaRPr lang="en-US" sz="3600" dirty="0"/>
          </a:p>
        </p:txBody>
      </p:sp>
      <p:sp>
        <p:nvSpPr>
          <p:cNvPr id="3" name="Text 1"/>
          <p:cNvSpPr txBox="1"/>
          <p:nvPr/>
        </p:nvSpPr>
        <p:spPr>
          <a:xfrm>
            <a:off x="548640" y="1417320"/>
            <a:ext cx="11064240" cy="548640"/>
          </a:xfrm>
          <a:prstGeom prst="rect">
            <a:avLst/>
          </a:prstGeom>
          <a:noFill/>
          <a:ln/>
        </p:spPr>
        <p:txBody>
          <a:bodyPr wrap="square" lIns="0" tIns="0" rIns="0" bIns="0" rtlCol="0" anchor="t"/>
          <a:lstStyle/>
          <a:p>
            <a:pPr indent="0" marL="0">
              <a:buNone/>
            </a:pPr>
            <a:r>
              <a:rPr lang="en-US" sz="2200" dirty="0">
                <a:solidFill>
                  <a:schemeClr val="accent6"/>
                </a:solidFill>
              </a:rPr>
              <a:t>Une activité se construit étape par étape, et chaque étape se répète :</a:t>
            </a:r>
            <a:endParaRPr lang="en-US" sz="2200" dirty="0"/>
          </a:p>
        </p:txBody>
      </p:sp>
      <p:sp>
        <p:nvSpPr>
          <p:cNvPr id="4" name="Étape Prospection"/>
          <p:cNvSpPr/>
          <p:nvPr/>
        </p:nvSpPr>
        <p:spPr>
          <a:xfrm>
            <a:off x="548640" y="2148840"/>
            <a:ext cx="2331720" cy="1005840"/>
          </a:xfrm>
          <a:prstGeom prst="roundRect">
            <a:avLst>
              <a:gd name="adj" fmla="val 10909"/>
            </a:avLst>
          </a:prstGeom>
          <a:solidFill>
            <a:schemeClr val="accent3"/>
          </a:solidFill>
          <a:ln/>
        </p:spPr>
      </p:sp>
      <p:sp>
        <p:nvSpPr>
          <p:cNvPr id="5" name="Text 3"/>
          <p:cNvSpPr txBox="1"/>
          <p:nvPr/>
        </p:nvSpPr>
        <p:spPr>
          <a:xfrm>
            <a:off x="548640" y="2148840"/>
            <a:ext cx="2331720" cy="1005840"/>
          </a:xfrm>
          <a:prstGeom prst="rect">
            <a:avLst/>
          </a:prstGeom>
          <a:noFill/>
          <a:ln/>
        </p:spPr>
        <p:txBody>
          <a:bodyPr wrap="square" lIns="0" tIns="0" rIns="0" bIns="0" rtlCol="0" anchor="ctr"/>
          <a:lstStyle/>
          <a:p>
            <a:pPr algn="ctr" indent="0" marL="0">
              <a:buNone/>
            </a:pPr>
            <a:r>
              <a:rPr lang="en-US" sz="2100" b="1" dirty="0">
                <a:solidFill>
                  <a:schemeClr val="bg1"/>
                </a:solidFill>
              </a:rPr>
              <a:t>1. Prospection</a:t>
            </a:r>
            <a:endParaRPr lang="en-US" sz="2100" dirty="0"/>
          </a:p>
        </p:txBody>
      </p:sp>
      <p:sp>
        <p:nvSpPr>
          <p:cNvPr id="6" name="Flèche"/>
          <p:cNvSpPr/>
          <p:nvPr/>
        </p:nvSpPr>
        <p:spPr>
          <a:xfrm>
            <a:off x="2944368" y="2468880"/>
            <a:ext cx="384048" cy="365760"/>
          </a:xfrm>
          <a:prstGeom prst="rightArrow">
            <a:avLst/>
          </a:prstGeom>
          <a:solidFill>
            <a:schemeClr val="accent1"/>
          </a:solidFill>
          <a:ln/>
        </p:spPr>
      </p:sp>
      <p:sp>
        <p:nvSpPr>
          <p:cNvPr id="7" name="Étape Présentation"/>
          <p:cNvSpPr/>
          <p:nvPr/>
        </p:nvSpPr>
        <p:spPr>
          <a:xfrm>
            <a:off x="3383280" y="2148840"/>
            <a:ext cx="2331720" cy="1005840"/>
          </a:xfrm>
          <a:prstGeom prst="roundRect">
            <a:avLst>
              <a:gd name="adj" fmla="val 10909"/>
            </a:avLst>
          </a:prstGeom>
          <a:solidFill>
            <a:schemeClr val="accent3"/>
          </a:solidFill>
          <a:ln/>
        </p:spPr>
      </p:sp>
      <p:sp>
        <p:nvSpPr>
          <p:cNvPr id="8" name="Text 6"/>
          <p:cNvSpPr txBox="1"/>
          <p:nvPr/>
        </p:nvSpPr>
        <p:spPr>
          <a:xfrm>
            <a:off x="3383280" y="2148840"/>
            <a:ext cx="2331720" cy="1005840"/>
          </a:xfrm>
          <a:prstGeom prst="rect">
            <a:avLst/>
          </a:prstGeom>
          <a:noFill/>
          <a:ln/>
        </p:spPr>
        <p:txBody>
          <a:bodyPr wrap="square" lIns="0" tIns="0" rIns="0" bIns="0" rtlCol="0" anchor="ctr"/>
          <a:lstStyle/>
          <a:p>
            <a:pPr algn="ctr" indent="0" marL="0">
              <a:buNone/>
            </a:pPr>
            <a:r>
              <a:rPr lang="en-US" sz="2100" b="1" dirty="0">
                <a:solidFill>
                  <a:schemeClr val="bg1"/>
                </a:solidFill>
              </a:rPr>
              <a:t>2. Présentation</a:t>
            </a:r>
            <a:endParaRPr lang="en-US" sz="2100" dirty="0"/>
          </a:p>
        </p:txBody>
      </p:sp>
      <p:sp>
        <p:nvSpPr>
          <p:cNvPr id="9" name="Flèche"/>
          <p:cNvSpPr/>
          <p:nvPr/>
        </p:nvSpPr>
        <p:spPr>
          <a:xfrm>
            <a:off x="5779008" y="2468880"/>
            <a:ext cx="384048" cy="365760"/>
          </a:xfrm>
          <a:prstGeom prst="rightArrow">
            <a:avLst/>
          </a:prstGeom>
          <a:solidFill>
            <a:schemeClr val="accent1"/>
          </a:solidFill>
          <a:ln/>
        </p:spPr>
      </p:sp>
      <p:sp>
        <p:nvSpPr>
          <p:cNvPr id="10" name="Étape Suivi"/>
          <p:cNvSpPr/>
          <p:nvPr/>
        </p:nvSpPr>
        <p:spPr>
          <a:xfrm>
            <a:off x="6217920" y="2148840"/>
            <a:ext cx="2331720" cy="1005840"/>
          </a:xfrm>
          <a:prstGeom prst="roundRect">
            <a:avLst>
              <a:gd name="adj" fmla="val 10909"/>
            </a:avLst>
          </a:prstGeom>
          <a:solidFill>
            <a:schemeClr val="accent3"/>
          </a:solidFill>
          <a:ln/>
        </p:spPr>
      </p:sp>
      <p:sp>
        <p:nvSpPr>
          <p:cNvPr id="11" name="Text 9"/>
          <p:cNvSpPr txBox="1"/>
          <p:nvPr/>
        </p:nvSpPr>
        <p:spPr>
          <a:xfrm>
            <a:off x="6217920" y="2148840"/>
            <a:ext cx="2331720" cy="1005840"/>
          </a:xfrm>
          <a:prstGeom prst="rect">
            <a:avLst/>
          </a:prstGeom>
          <a:noFill/>
          <a:ln/>
        </p:spPr>
        <p:txBody>
          <a:bodyPr wrap="square" lIns="0" tIns="0" rIns="0" bIns="0" rtlCol="0" anchor="ctr"/>
          <a:lstStyle/>
          <a:p>
            <a:pPr algn="ctr" indent="0" marL="0">
              <a:buNone/>
            </a:pPr>
            <a:r>
              <a:rPr lang="en-US" sz="2100" b="1" dirty="0">
                <a:solidFill>
                  <a:schemeClr val="bg1"/>
                </a:solidFill>
              </a:rPr>
              <a:t>3. Suivi</a:t>
            </a:r>
            <a:endParaRPr lang="en-US" sz="2100" dirty="0"/>
          </a:p>
        </p:txBody>
      </p:sp>
      <p:sp>
        <p:nvSpPr>
          <p:cNvPr id="12" name="Flèche"/>
          <p:cNvSpPr/>
          <p:nvPr/>
        </p:nvSpPr>
        <p:spPr>
          <a:xfrm>
            <a:off x="8613648" y="2468880"/>
            <a:ext cx="384048" cy="365760"/>
          </a:xfrm>
          <a:prstGeom prst="rightArrow">
            <a:avLst/>
          </a:prstGeom>
          <a:solidFill>
            <a:schemeClr val="accent1"/>
          </a:solidFill>
          <a:ln/>
        </p:spPr>
      </p:sp>
      <p:sp>
        <p:nvSpPr>
          <p:cNvPr id="13" name="Étape Vente"/>
          <p:cNvSpPr/>
          <p:nvPr/>
        </p:nvSpPr>
        <p:spPr>
          <a:xfrm>
            <a:off x="9052560" y="2148840"/>
            <a:ext cx="2331720" cy="1005840"/>
          </a:xfrm>
          <a:prstGeom prst="roundRect">
            <a:avLst>
              <a:gd name="adj" fmla="val 10909"/>
            </a:avLst>
          </a:prstGeom>
          <a:solidFill>
            <a:schemeClr val="accent3"/>
          </a:solidFill>
          <a:ln/>
        </p:spPr>
      </p:sp>
      <p:sp>
        <p:nvSpPr>
          <p:cNvPr id="14" name="Text 12"/>
          <p:cNvSpPr txBox="1"/>
          <p:nvPr/>
        </p:nvSpPr>
        <p:spPr>
          <a:xfrm>
            <a:off x="9052560" y="2148840"/>
            <a:ext cx="2331720" cy="1005840"/>
          </a:xfrm>
          <a:prstGeom prst="rect">
            <a:avLst/>
          </a:prstGeom>
          <a:noFill/>
          <a:ln/>
        </p:spPr>
        <p:txBody>
          <a:bodyPr wrap="square" lIns="0" tIns="0" rIns="0" bIns="0" rtlCol="0" anchor="ctr"/>
          <a:lstStyle/>
          <a:p>
            <a:pPr algn="ctr" indent="0" marL="0">
              <a:buNone/>
            </a:pPr>
            <a:r>
              <a:rPr lang="en-US" sz="2100" b="1" dirty="0">
                <a:solidFill>
                  <a:schemeClr val="bg1"/>
                </a:solidFill>
              </a:rPr>
              <a:t>4. Vente</a:t>
            </a:r>
            <a:endParaRPr lang="en-US" sz="2100" dirty="0"/>
          </a:p>
        </p:txBody>
      </p:sp>
      <p:sp>
        <p:nvSpPr>
          <p:cNvPr id="15" name="Flèche"/>
          <p:cNvSpPr/>
          <p:nvPr/>
        </p:nvSpPr>
        <p:spPr>
          <a:xfrm>
            <a:off x="10030968" y="3200400"/>
            <a:ext cx="384048" cy="411480"/>
          </a:xfrm>
          <a:prstGeom prst="downArrow">
            <a:avLst/>
          </a:prstGeom>
          <a:solidFill>
            <a:schemeClr val="accent1"/>
          </a:solidFill>
          <a:ln/>
        </p:spPr>
      </p:sp>
      <p:sp>
        <p:nvSpPr>
          <p:cNvPr id="16" name="Étape Fidélisation"/>
          <p:cNvSpPr/>
          <p:nvPr/>
        </p:nvSpPr>
        <p:spPr>
          <a:xfrm>
            <a:off x="9052560" y="3657600"/>
            <a:ext cx="2331720" cy="1005840"/>
          </a:xfrm>
          <a:prstGeom prst="roundRect">
            <a:avLst>
              <a:gd name="adj" fmla="val 10909"/>
            </a:avLst>
          </a:prstGeom>
          <a:solidFill>
            <a:schemeClr val="accent2"/>
          </a:solidFill>
          <a:ln/>
        </p:spPr>
      </p:sp>
      <p:sp>
        <p:nvSpPr>
          <p:cNvPr id="17" name="Text 15"/>
          <p:cNvSpPr txBox="1"/>
          <p:nvPr/>
        </p:nvSpPr>
        <p:spPr>
          <a:xfrm>
            <a:off x="9052560" y="3657600"/>
            <a:ext cx="2331720" cy="1005840"/>
          </a:xfrm>
          <a:prstGeom prst="rect">
            <a:avLst/>
          </a:prstGeom>
          <a:noFill/>
          <a:ln/>
        </p:spPr>
        <p:txBody>
          <a:bodyPr wrap="square" lIns="0" tIns="0" rIns="0" bIns="0" rtlCol="0" anchor="ctr"/>
          <a:lstStyle/>
          <a:p>
            <a:pPr algn="ctr" indent="0" marL="0">
              <a:buNone/>
            </a:pPr>
            <a:r>
              <a:rPr lang="en-US" sz="2100" b="1" dirty="0">
                <a:solidFill>
                  <a:schemeClr val="bg1"/>
                </a:solidFill>
              </a:rPr>
              <a:t>5. Fidélisation</a:t>
            </a:r>
            <a:endParaRPr lang="en-US" sz="2100" dirty="0"/>
          </a:p>
        </p:txBody>
      </p:sp>
      <p:sp>
        <p:nvSpPr>
          <p:cNvPr id="18" name="Flèche"/>
          <p:cNvSpPr/>
          <p:nvPr/>
        </p:nvSpPr>
        <p:spPr>
          <a:xfrm>
            <a:off x="8604504" y="3977640"/>
            <a:ext cx="384048" cy="365760"/>
          </a:xfrm>
          <a:prstGeom prst="leftArrow">
            <a:avLst/>
          </a:prstGeom>
          <a:solidFill>
            <a:schemeClr val="accent1"/>
          </a:solidFill>
          <a:ln/>
        </p:spPr>
      </p:sp>
      <p:sp>
        <p:nvSpPr>
          <p:cNvPr id="19" name="Étape Formation"/>
          <p:cNvSpPr/>
          <p:nvPr/>
        </p:nvSpPr>
        <p:spPr>
          <a:xfrm>
            <a:off x="6217920" y="3657600"/>
            <a:ext cx="2331720" cy="1005840"/>
          </a:xfrm>
          <a:prstGeom prst="roundRect">
            <a:avLst>
              <a:gd name="adj" fmla="val 10909"/>
            </a:avLst>
          </a:prstGeom>
          <a:solidFill>
            <a:schemeClr val="accent2"/>
          </a:solidFill>
          <a:ln/>
        </p:spPr>
      </p:sp>
      <p:sp>
        <p:nvSpPr>
          <p:cNvPr id="20" name="Text 18"/>
          <p:cNvSpPr txBox="1"/>
          <p:nvPr/>
        </p:nvSpPr>
        <p:spPr>
          <a:xfrm>
            <a:off x="6217920" y="3657600"/>
            <a:ext cx="2331720" cy="1005840"/>
          </a:xfrm>
          <a:prstGeom prst="rect">
            <a:avLst/>
          </a:prstGeom>
          <a:noFill/>
          <a:ln/>
        </p:spPr>
        <p:txBody>
          <a:bodyPr wrap="square" lIns="0" tIns="0" rIns="0" bIns="0" rtlCol="0" anchor="ctr"/>
          <a:lstStyle/>
          <a:p>
            <a:pPr algn="ctr" indent="0" marL="0">
              <a:buNone/>
            </a:pPr>
            <a:r>
              <a:rPr lang="en-US" sz="2100" b="1" dirty="0">
                <a:solidFill>
                  <a:schemeClr val="bg1"/>
                </a:solidFill>
              </a:rPr>
              <a:t>6. Formation</a:t>
            </a:r>
            <a:endParaRPr lang="en-US" sz="2100" dirty="0"/>
          </a:p>
        </p:txBody>
      </p:sp>
      <p:sp>
        <p:nvSpPr>
          <p:cNvPr id="21" name="Flèche"/>
          <p:cNvSpPr/>
          <p:nvPr/>
        </p:nvSpPr>
        <p:spPr>
          <a:xfrm>
            <a:off x="5769864" y="3977640"/>
            <a:ext cx="384048" cy="365760"/>
          </a:xfrm>
          <a:prstGeom prst="leftArrow">
            <a:avLst/>
          </a:prstGeom>
          <a:solidFill>
            <a:schemeClr val="accent1"/>
          </a:solidFill>
          <a:ln/>
        </p:spPr>
      </p:sp>
      <p:sp>
        <p:nvSpPr>
          <p:cNvPr id="22" name="Étape Duplication"/>
          <p:cNvSpPr/>
          <p:nvPr/>
        </p:nvSpPr>
        <p:spPr>
          <a:xfrm>
            <a:off x="3383280" y="3657600"/>
            <a:ext cx="2331720" cy="1005840"/>
          </a:xfrm>
          <a:prstGeom prst="roundRect">
            <a:avLst>
              <a:gd name="adj" fmla="val 10909"/>
            </a:avLst>
          </a:prstGeom>
          <a:solidFill>
            <a:schemeClr val="accent2"/>
          </a:solidFill>
          <a:ln/>
        </p:spPr>
      </p:sp>
      <p:sp>
        <p:nvSpPr>
          <p:cNvPr id="23" name="Text 21"/>
          <p:cNvSpPr txBox="1"/>
          <p:nvPr/>
        </p:nvSpPr>
        <p:spPr>
          <a:xfrm>
            <a:off x="3383280" y="3657600"/>
            <a:ext cx="2331720" cy="1005840"/>
          </a:xfrm>
          <a:prstGeom prst="rect">
            <a:avLst/>
          </a:prstGeom>
          <a:noFill/>
          <a:ln/>
        </p:spPr>
        <p:txBody>
          <a:bodyPr wrap="square" lIns="0" tIns="0" rIns="0" bIns="0" rtlCol="0" anchor="ctr"/>
          <a:lstStyle/>
          <a:p>
            <a:pPr algn="ctr" indent="0" marL="0">
              <a:buNone/>
            </a:pPr>
            <a:r>
              <a:rPr lang="en-US" sz="2100" b="1" dirty="0">
                <a:solidFill>
                  <a:schemeClr val="bg1"/>
                </a:solidFill>
              </a:rPr>
              <a:t>7. Duplication</a:t>
            </a:r>
            <a:endParaRPr lang="en-US" sz="2100" dirty="0"/>
          </a:p>
        </p:txBody>
      </p:sp>
      <p:sp>
        <p:nvSpPr>
          <p:cNvPr id="24" name="Flèche"/>
          <p:cNvSpPr/>
          <p:nvPr/>
        </p:nvSpPr>
        <p:spPr>
          <a:xfrm>
            <a:off x="2935224" y="3977640"/>
            <a:ext cx="384048" cy="365760"/>
          </a:xfrm>
          <a:prstGeom prst="leftArrow">
            <a:avLst/>
          </a:prstGeom>
          <a:solidFill>
            <a:schemeClr val="accent1"/>
          </a:solidFill>
          <a:ln/>
        </p:spPr>
      </p:sp>
      <p:sp>
        <p:nvSpPr>
          <p:cNvPr id="25" name="Étape Suivi continu"/>
          <p:cNvSpPr/>
          <p:nvPr/>
        </p:nvSpPr>
        <p:spPr>
          <a:xfrm>
            <a:off x="548640" y="3657600"/>
            <a:ext cx="2331720" cy="1005840"/>
          </a:xfrm>
          <a:prstGeom prst="roundRect">
            <a:avLst>
              <a:gd name="adj" fmla="val 10909"/>
            </a:avLst>
          </a:prstGeom>
          <a:solidFill>
            <a:schemeClr val="accent2"/>
          </a:solidFill>
          <a:ln/>
        </p:spPr>
      </p:sp>
      <p:sp>
        <p:nvSpPr>
          <p:cNvPr id="26" name="Text 24"/>
          <p:cNvSpPr txBox="1"/>
          <p:nvPr/>
        </p:nvSpPr>
        <p:spPr>
          <a:xfrm>
            <a:off x="548640" y="3657600"/>
            <a:ext cx="2331720" cy="1005840"/>
          </a:xfrm>
          <a:prstGeom prst="rect">
            <a:avLst/>
          </a:prstGeom>
          <a:noFill/>
          <a:ln/>
        </p:spPr>
        <p:txBody>
          <a:bodyPr wrap="square" lIns="0" tIns="0" rIns="0" bIns="0" rtlCol="0" anchor="ctr"/>
          <a:lstStyle/>
          <a:p>
            <a:pPr algn="ctr" indent="0" marL="0">
              <a:buNone/>
            </a:pPr>
            <a:r>
              <a:rPr lang="en-US" sz="2100" b="1" dirty="0">
                <a:solidFill>
                  <a:schemeClr val="bg1"/>
                </a:solidFill>
              </a:rPr>
              <a:t>8. Suivi continu</a:t>
            </a:r>
            <a:endParaRPr lang="en-US" sz="2100" dirty="0"/>
          </a:p>
        </p:txBody>
      </p:sp>
      <p:sp>
        <p:nvSpPr>
          <p:cNvPr id="27" name="Encadré citation constance"/>
          <p:cNvSpPr/>
          <p:nvPr/>
        </p:nvSpPr>
        <p:spPr>
          <a:xfrm>
            <a:off x="548640" y="5074920"/>
            <a:ext cx="11064240" cy="1188720"/>
          </a:xfrm>
          <a:prstGeom prst="roundRect">
            <a:avLst>
              <a:gd name="adj" fmla="val 9231"/>
            </a:avLst>
          </a:prstGeom>
          <a:solidFill>
            <a:schemeClr val="bg2"/>
          </a:solidFill>
          <a:ln/>
        </p:spPr>
      </p:sp>
      <p:sp>
        <p:nvSpPr>
          <p:cNvPr id="28" name="Répétition cercle"/>
          <p:cNvSpPr/>
          <p:nvPr/>
        </p:nvSpPr>
        <p:spPr>
          <a:xfrm>
            <a:off x="777240" y="5257800"/>
            <a:ext cx="822960" cy="822960"/>
          </a:xfrm>
          <a:prstGeom prst="ellipse">
            <a:avLst/>
          </a:prstGeom>
          <a:solidFill>
            <a:schemeClr val="accent1"/>
          </a:solidFill>
          <a:ln/>
        </p:spPr>
      </p:sp>
      <p:pic>
        <p:nvPicPr>
          <p:cNvPr id="29" name="Répétition icône" descr="Répétition">    </p:cNvPr>
          <p:cNvPicPr>
            <a:picLocks noChangeAspect="1"/>
          </p:cNvPicPr>
          <p:nvPr/>
        </p:nvPicPr>
        <p:blipFill>
          <a:blip r:embed="rId1"/>
          <a:stretch>
            <a:fillRect/>
          </a:stretch>
        </p:blipFill>
        <p:spPr>
          <a:xfrm>
            <a:off x="991210" y="5471770"/>
            <a:ext cx="395021" cy="395021"/>
          </a:xfrm>
          <a:prstGeom prst="rect">
            <a:avLst/>
          </a:prstGeom>
        </p:spPr>
      </p:pic>
      <p:sp>
        <p:nvSpPr>
          <p:cNvPr id="30" name="Text 27"/>
          <p:cNvSpPr txBox="1"/>
          <p:nvPr/>
        </p:nvSpPr>
        <p:spPr>
          <a:xfrm>
            <a:off x="1828800" y="5120640"/>
            <a:ext cx="9601200" cy="1097280"/>
          </a:xfrm>
          <a:prstGeom prst="rect">
            <a:avLst/>
          </a:prstGeom>
          <a:noFill/>
          <a:ln/>
        </p:spPr>
        <p:txBody>
          <a:bodyPr wrap="square" lIns="0" tIns="0" rIns="0" bIns="0" rtlCol="0" anchor="ctr"/>
          <a:lstStyle/>
          <a:p>
            <a:pPr indent="0" marL="0">
              <a:buNone/>
            </a:pPr>
            <a:r>
              <a:rPr lang="en-US" sz="2200" i="1" dirty="0">
                <a:solidFill>
                  <a:schemeClr val="tx2"/>
                </a:solidFill>
              </a:rPr>
              <a:t>Ce qui fait la différence, ce n'est pas seulement ce que tu fais aujourd'hui, mais ce que tu es capable de répéter suffisamment longtemps.</a:t>
            </a:r>
            <a:endParaRPr lang="en-US" sz="22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Motivation, discipline et constance</a:t>
            </a:r>
            <a:endParaRPr lang="en-US" sz="3600" dirty="0"/>
          </a:p>
        </p:txBody>
      </p:sp>
      <p:graphicFrame>
        <p:nvGraphicFramePr>
          <p:cNvPr id="3" name="Graphique motivation constance" descr=""/>
          <p:cNvGraphicFramePr/>
          <p:nvPr/>
        </p:nvGraphicFramePr>
        <p:xfrm>
          <a:off x="548640" y="1371600"/>
          <a:ext cx="6035040" cy="4846320"/>
        </p:xfrm>
        <a:graphic xmlns:a="http://schemas.openxmlformats.org/drawingml/2006/main">
          <a:graphicData uri="http://schemas.openxmlformats.org/drawingml/2006/chart">
            <c:chart xmlns:c="http://schemas.openxmlformats.org/drawingml/2006/chart" r:id="rId1"/>
          </a:graphicData>
        </a:graphic>
      </p:graphicFrame>
      <p:sp>
        <p:nvSpPr>
          <p:cNvPr id="4" name="Carte Motivation"/>
          <p:cNvSpPr/>
          <p:nvPr/>
        </p:nvSpPr>
        <p:spPr>
          <a:xfrm>
            <a:off x="6858000" y="1463040"/>
            <a:ext cx="4754880" cy="1417320"/>
          </a:xfrm>
          <a:prstGeom prst="roundRect">
            <a:avLst>
              <a:gd name="adj" fmla="val 7742"/>
            </a:avLst>
          </a:prstGeom>
          <a:solidFill>
            <a:schemeClr val="bg2"/>
          </a:solidFill>
          <a:ln/>
        </p:spPr>
      </p:sp>
      <p:sp>
        <p:nvSpPr>
          <p:cNvPr id="5" name="Motivation cercle"/>
          <p:cNvSpPr/>
          <p:nvPr/>
        </p:nvSpPr>
        <p:spPr>
          <a:xfrm>
            <a:off x="7040880" y="1737360"/>
            <a:ext cx="868680" cy="868680"/>
          </a:xfrm>
          <a:prstGeom prst="ellipse">
            <a:avLst/>
          </a:prstGeom>
          <a:solidFill>
            <a:schemeClr val="accent2"/>
          </a:solidFill>
          <a:ln/>
        </p:spPr>
      </p:sp>
      <p:pic>
        <p:nvPicPr>
          <p:cNvPr id="6" name="Motivation icône" descr="Motivation">    </p:cNvPr>
          <p:cNvPicPr>
            <a:picLocks noChangeAspect="1"/>
          </p:cNvPicPr>
          <p:nvPr/>
        </p:nvPicPr>
        <p:blipFill>
          <a:blip r:embed="rId2"/>
          <a:stretch>
            <a:fillRect/>
          </a:stretch>
        </p:blipFill>
        <p:spPr>
          <a:xfrm>
            <a:off x="7266737" y="1963217"/>
            <a:ext cx="416966" cy="416966"/>
          </a:xfrm>
          <a:prstGeom prst="rect">
            <a:avLst/>
          </a:prstGeom>
        </p:spPr>
      </p:pic>
      <p:sp>
        <p:nvSpPr>
          <p:cNvPr id="7" name="Text 3"/>
          <p:cNvSpPr txBox="1"/>
          <p:nvPr/>
        </p:nvSpPr>
        <p:spPr>
          <a:xfrm>
            <a:off x="8092440" y="1554480"/>
            <a:ext cx="3383280" cy="1234440"/>
          </a:xfrm>
          <a:prstGeom prst="rect">
            <a:avLst/>
          </a:prstGeom>
          <a:noFill/>
          <a:ln/>
        </p:spPr>
        <p:txBody>
          <a:bodyPr wrap="square" lIns="0" tIns="0" rIns="0" bIns="0" rtlCol="0" anchor="ctr"/>
          <a:lstStyle/>
          <a:p>
            <a:pPr indent="0" marL="0">
              <a:buNone/>
            </a:pPr>
            <a:r>
              <a:rPr lang="en-US" sz="2400" b="1" dirty="0">
                <a:solidFill>
                  <a:schemeClr val="tx2"/>
                </a:solidFill>
              </a:rPr>
              <a:t>Motivation</a:t>
            </a:r>
            <a:endParaRPr lang="en-US" sz="2200" dirty="0"/>
          </a:p>
          <a:p>
            <a:pPr indent="0" marL="0">
              <a:buNone/>
            </a:pPr>
            <a:r>
              <a:rPr lang="en-US" sz="2000" dirty="0">
                <a:solidFill>
                  <a:schemeClr val="tx1"/>
                </a:solidFill>
              </a:rPr>
              <a:t>Elle monte et elle descend.</a:t>
            </a:r>
            <a:endParaRPr lang="en-US" sz="2200" dirty="0"/>
          </a:p>
        </p:txBody>
      </p:sp>
      <p:sp>
        <p:nvSpPr>
          <p:cNvPr id="8" name="Carte Discipline"/>
          <p:cNvSpPr/>
          <p:nvPr/>
        </p:nvSpPr>
        <p:spPr>
          <a:xfrm>
            <a:off x="6858000" y="3063240"/>
            <a:ext cx="4754880" cy="1417320"/>
          </a:xfrm>
          <a:prstGeom prst="roundRect">
            <a:avLst>
              <a:gd name="adj" fmla="val 7742"/>
            </a:avLst>
          </a:prstGeom>
          <a:solidFill>
            <a:schemeClr val="bg2"/>
          </a:solidFill>
          <a:ln/>
        </p:spPr>
      </p:sp>
      <p:sp>
        <p:nvSpPr>
          <p:cNvPr id="9" name="Discipline cercle"/>
          <p:cNvSpPr/>
          <p:nvPr/>
        </p:nvSpPr>
        <p:spPr>
          <a:xfrm>
            <a:off x="7040880" y="3337560"/>
            <a:ext cx="868680" cy="868680"/>
          </a:xfrm>
          <a:prstGeom prst="ellipse">
            <a:avLst/>
          </a:prstGeom>
          <a:solidFill>
            <a:schemeClr val="tx2"/>
          </a:solidFill>
          <a:ln/>
        </p:spPr>
      </p:sp>
      <p:pic>
        <p:nvPicPr>
          <p:cNvPr id="10" name="Discipline icône" descr="Discipline">    </p:cNvPr>
          <p:cNvPicPr>
            <a:picLocks noChangeAspect="1"/>
          </p:cNvPicPr>
          <p:nvPr/>
        </p:nvPicPr>
        <p:blipFill>
          <a:blip r:embed="rId3"/>
          <a:stretch>
            <a:fillRect/>
          </a:stretch>
        </p:blipFill>
        <p:spPr>
          <a:xfrm>
            <a:off x="7266737" y="3563417"/>
            <a:ext cx="416966" cy="416966"/>
          </a:xfrm>
          <a:prstGeom prst="rect">
            <a:avLst/>
          </a:prstGeom>
        </p:spPr>
      </p:pic>
      <p:sp>
        <p:nvSpPr>
          <p:cNvPr id="11" name="Text 6"/>
          <p:cNvSpPr txBox="1"/>
          <p:nvPr/>
        </p:nvSpPr>
        <p:spPr>
          <a:xfrm>
            <a:off x="8092440" y="3154680"/>
            <a:ext cx="3383280" cy="1234440"/>
          </a:xfrm>
          <a:prstGeom prst="rect">
            <a:avLst/>
          </a:prstGeom>
          <a:noFill/>
          <a:ln/>
        </p:spPr>
        <p:txBody>
          <a:bodyPr wrap="square" lIns="0" tIns="0" rIns="0" bIns="0" rtlCol="0" anchor="ctr"/>
          <a:lstStyle/>
          <a:p>
            <a:pPr indent="0" marL="0">
              <a:buNone/>
            </a:pPr>
            <a:r>
              <a:rPr lang="en-US" sz="2400" b="1" dirty="0">
                <a:solidFill>
                  <a:schemeClr val="tx2"/>
                </a:solidFill>
              </a:rPr>
              <a:t>Discipline</a:t>
            </a:r>
            <a:endParaRPr lang="en-US" sz="2200" dirty="0"/>
          </a:p>
          <a:p>
            <a:pPr indent="0" marL="0">
              <a:buNone/>
            </a:pPr>
            <a:r>
              <a:rPr lang="en-US" sz="2000" dirty="0">
                <a:solidFill>
                  <a:schemeClr val="tx1"/>
                </a:solidFill>
              </a:rPr>
              <a:t>Elle permet de continuer même quand la motivation baisse.</a:t>
            </a:r>
            <a:endParaRPr lang="en-US" sz="2200" dirty="0"/>
          </a:p>
        </p:txBody>
      </p:sp>
      <p:sp>
        <p:nvSpPr>
          <p:cNvPr id="12" name="Carte Constance"/>
          <p:cNvSpPr/>
          <p:nvPr/>
        </p:nvSpPr>
        <p:spPr>
          <a:xfrm>
            <a:off x="6858000" y="4663440"/>
            <a:ext cx="4754880" cy="1417320"/>
          </a:xfrm>
          <a:prstGeom prst="roundRect">
            <a:avLst>
              <a:gd name="adj" fmla="val 7742"/>
            </a:avLst>
          </a:prstGeom>
          <a:solidFill>
            <a:schemeClr val="bg2"/>
          </a:solidFill>
          <a:ln/>
        </p:spPr>
      </p:sp>
      <p:sp>
        <p:nvSpPr>
          <p:cNvPr id="13" name="Constance cercle"/>
          <p:cNvSpPr/>
          <p:nvPr/>
        </p:nvSpPr>
        <p:spPr>
          <a:xfrm>
            <a:off x="7040880" y="4937760"/>
            <a:ext cx="868680" cy="868680"/>
          </a:xfrm>
          <a:prstGeom prst="ellipse">
            <a:avLst/>
          </a:prstGeom>
          <a:solidFill>
            <a:schemeClr val="accent3"/>
          </a:solidFill>
          <a:ln/>
        </p:spPr>
      </p:sp>
      <p:pic>
        <p:nvPicPr>
          <p:cNvPr id="14" name="Constance icône" descr="Constance">    </p:cNvPr>
          <p:cNvPicPr>
            <a:picLocks noChangeAspect="1"/>
          </p:cNvPicPr>
          <p:nvPr/>
        </p:nvPicPr>
        <p:blipFill>
          <a:blip r:embed="rId4"/>
          <a:stretch>
            <a:fillRect/>
          </a:stretch>
        </p:blipFill>
        <p:spPr>
          <a:xfrm>
            <a:off x="7266737" y="5163617"/>
            <a:ext cx="416966" cy="416966"/>
          </a:xfrm>
          <a:prstGeom prst="rect">
            <a:avLst/>
          </a:prstGeom>
        </p:spPr>
      </p:pic>
      <p:sp>
        <p:nvSpPr>
          <p:cNvPr id="15" name="Text 9"/>
          <p:cNvSpPr txBox="1"/>
          <p:nvPr/>
        </p:nvSpPr>
        <p:spPr>
          <a:xfrm>
            <a:off x="8092440" y="4754880"/>
            <a:ext cx="3383280" cy="1234440"/>
          </a:xfrm>
          <a:prstGeom prst="rect">
            <a:avLst/>
          </a:prstGeom>
          <a:noFill/>
          <a:ln/>
        </p:spPr>
        <p:txBody>
          <a:bodyPr wrap="square" lIns="0" tIns="0" rIns="0" bIns="0" rtlCol="0" anchor="ctr"/>
          <a:lstStyle/>
          <a:p>
            <a:pPr indent="0" marL="0">
              <a:buNone/>
            </a:pPr>
            <a:r>
              <a:rPr lang="en-US" sz="2400" b="1" dirty="0">
                <a:solidFill>
                  <a:schemeClr val="tx2"/>
                </a:solidFill>
              </a:rPr>
              <a:t>Constance</a:t>
            </a:r>
            <a:endParaRPr lang="en-US" sz="2200" dirty="0"/>
          </a:p>
          <a:p>
            <a:pPr indent="0" marL="0">
              <a:buNone/>
            </a:pPr>
            <a:r>
              <a:rPr lang="en-US" sz="2000" dirty="0">
                <a:solidFill>
                  <a:schemeClr val="tx1"/>
                </a:solidFill>
              </a:rPr>
              <a:t>Elle accumule les efforts dans le temps.</a:t>
            </a:r>
            <a:endParaRPr lang="en-US" sz="22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L'Afrique : le continent du potentiel</a:t>
            </a:r>
            <a:endParaRPr lang="en-US" sz="3600" dirty="0"/>
          </a:p>
        </p:txBody>
      </p:sp>
      <p:pic>
        <p:nvPicPr>
          <p:cNvPr id="3" name="Carte de l'Afrique" descr="Carte de l'Afrique avec des points reliés représentant les grands marchés">    </p:cNvPr>
          <p:cNvPicPr>
            <a:picLocks noChangeAspect="1"/>
          </p:cNvPicPr>
          <p:nvPr/>
        </p:nvPicPr>
        <p:blipFill>
          <a:blip r:embed="rId1"/>
          <a:stretch>
            <a:fillRect/>
          </a:stretch>
        </p:blipFill>
        <p:spPr>
          <a:xfrm>
            <a:off x="548640" y="1325880"/>
            <a:ext cx="4681728" cy="4846320"/>
          </a:xfrm>
          <a:prstGeom prst="rect">
            <a:avLst/>
          </a:prstGeom>
        </p:spPr>
      </p:pic>
      <p:sp>
        <p:nvSpPr>
          <p:cNvPr id="4" name="Text 1"/>
          <p:cNvSpPr txBox="1"/>
          <p:nvPr/>
        </p:nvSpPr>
        <p:spPr>
          <a:xfrm>
            <a:off x="5669280" y="1371600"/>
            <a:ext cx="3017520" cy="10515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 1,5 milliard</a:t>
            </a:r>
            <a:endParaRPr lang="en-US" sz="3600" dirty="0"/>
          </a:p>
        </p:txBody>
      </p:sp>
      <p:sp>
        <p:nvSpPr>
          <p:cNvPr id="5" name="Text 2"/>
          <p:cNvSpPr txBox="1"/>
          <p:nvPr/>
        </p:nvSpPr>
        <p:spPr>
          <a:xfrm>
            <a:off x="8732520" y="1371600"/>
            <a:ext cx="2926080" cy="1051560"/>
          </a:xfrm>
          <a:prstGeom prst="rect">
            <a:avLst/>
          </a:prstGeom>
          <a:noFill/>
          <a:ln/>
        </p:spPr>
        <p:txBody>
          <a:bodyPr wrap="square" lIns="0" tIns="0" rIns="0" bIns="0" rtlCol="0" anchor="ctr"/>
          <a:lstStyle/>
          <a:p>
            <a:pPr indent="0" marL="0">
              <a:buNone/>
            </a:pPr>
            <a:r>
              <a:rPr lang="en-US" sz="2000" dirty="0">
                <a:solidFill>
                  <a:schemeClr val="bg1"/>
                </a:solidFill>
              </a:rPr>
              <a:t>d'habitants en 2025, soit près de 1 habitant de la planète sur 5</a:t>
            </a:r>
            <a:endParaRPr lang="en-US" sz="2000" dirty="0"/>
          </a:p>
        </p:txBody>
      </p:sp>
      <p:sp>
        <p:nvSpPr>
          <p:cNvPr id="6" name="Text 3"/>
          <p:cNvSpPr txBox="1"/>
          <p:nvPr/>
        </p:nvSpPr>
        <p:spPr>
          <a:xfrm>
            <a:off x="5669280" y="2578608"/>
            <a:ext cx="3017520" cy="10515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 60 %</a:t>
            </a:r>
            <a:endParaRPr lang="en-US" sz="3600" dirty="0"/>
          </a:p>
        </p:txBody>
      </p:sp>
      <p:sp>
        <p:nvSpPr>
          <p:cNvPr id="7" name="Text 4"/>
          <p:cNvSpPr txBox="1"/>
          <p:nvPr/>
        </p:nvSpPr>
        <p:spPr>
          <a:xfrm>
            <a:off x="8732520" y="2578608"/>
            <a:ext cx="2926080" cy="1051560"/>
          </a:xfrm>
          <a:prstGeom prst="rect">
            <a:avLst/>
          </a:prstGeom>
          <a:noFill/>
          <a:ln/>
        </p:spPr>
        <p:txBody>
          <a:bodyPr wrap="square" lIns="0" tIns="0" rIns="0" bIns="0" rtlCol="0" anchor="ctr"/>
          <a:lstStyle/>
          <a:p>
            <a:pPr indent="0" marL="0">
              <a:buNone/>
            </a:pPr>
            <a:r>
              <a:rPr lang="en-US" sz="2000" dirty="0">
                <a:solidFill>
                  <a:schemeClr val="bg1"/>
                </a:solidFill>
              </a:rPr>
              <a:t>de la population a moins de 25 ans : le continent le plus jeune du monde</a:t>
            </a:r>
            <a:endParaRPr lang="en-US" sz="2000" dirty="0"/>
          </a:p>
        </p:txBody>
      </p:sp>
      <p:sp>
        <p:nvSpPr>
          <p:cNvPr id="8" name="Text 5"/>
          <p:cNvSpPr txBox="1"/>
          <p:nvPr/>
        </p:nvSpPr>
        <p:spPr>
          <a:xfrm>
            <a:off x="5669280" y="3785616"/>
            <a:ext cx="3017520" cy="10515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 2,5 milliards</a:t>
            </a:r>
            <a:endParaRPr lang="en-US" sz="3600" dirty="0"/>
          </a:p>
        </p:txBody>
      </p:sp>
      <p:sp>
        <p:nvSpPr>
          <p:cNvPr id="9" name="Text 6"/>
          <p:cNvSpPr txBox="1"/>
          <p:nvPr/>
        </p:nvSpPr>
        <p:spPr>
          <a:xfrm>
            <a:off x="8732520" y="3785616"/>
            <a:ext cx="2926080" cy="1051560"/>
          </a:xfrm>
          <a:prstGeom prst="rect">
            <a:avLst/>
          </a:prstGeom>
          <a:noFill/>
          <a:ln/>
        </p:spPr>
        <p:txBody>
          <a:bodyPr wrap="square" lIns="0" tIns="0" rIns="0" bIns="0" rtlCol="0" anchor="ctr"/>
          <a:lstStyle/>
          <a:p>
            <a:pPr indent="0" marL="0">
              <a:buNone/>
            </a:pPr>
            <a:r>
              <a:rPr lang="en-US" sz="2000" dirty="0">
                <a:solidFill>
                  <a:schemeClr val="bg1"/>
                </a:solidFill>
              </a:rPr>
              <a:t>d'habitants attendus en 2050</a:t>
            </a:r>
            <a:endParaRPr lang="en-US" sz="2000" dirty="0"/>
          </a:p>
        </p:txBody>
      </p:sp>
      <p:sp>
        <p:nvSpPr>
          <p:cNvPr id="10" name="Text 7"/>
          <p:cNvSpPr txBox="1"/>
          <p:nvPr/>
        </p:nvSpPr>
        <p:spPr>
          <a:xfrm>
            <a:off x="5669280" y="4992624"/>
            <a:ext cx="3017520" cy="10515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 85 %</a:t>
            </a:r>
            <a:endParaRPr lang="en-US" sz="3600" dirty="0"/>
          </a:p>
        </p:txBody>
      </p:sp>
      <p:sp>
        <p:nvSpPr>
          <p:cNvPr id="11" name="Text 8"/>
          <p:cNvSpPr txBox="1"/>
          <p:nvPr/>
        </p:nvSpPr>
        <p:spPr>
          <a:xfrm>
            <a:off x="8732520" y="4992624"/>
            <a:ext cx="2926080" cy="1051560"/>
          </a:xfrm>
          <a:prstGeom prst="rect">
            <a:avLst/>
          </a:prstGeom>
          <a:noFill/>
          <a:ln/>
        </p:spPr>
        <p:txBody>
          <a:bodyPr wrap="square" lIns="0" tIns="0" rIns="0" bIns="0" rtlCol="0" anchor="ctr"/>
          <a:lstStyle/>
          <a:p>
            <a:pPr indent="0" marL="0">
              <a:buNone/>
            </a:pPr>
            <a:r>
              <a:rPr lang="en-US" sz="2000" dirty="0">
                <a:solidFill>
                  <a:schemeClr val="bg1"/>
                </a:solidFill>
              </a:rPr>
              <a:t>des emplois sont dans le secteur informel : l'auto-entrepreneuriat fait partie de la culture</a:t>
            </a:r>
            <a:endParaRPr lang="en-US" sz="20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Les moteurs de la croissance africaine</a:t>
            </a:r>
            <a:endParaRPr lang="en-US" sz="3600" dirty="0"/>
          </a:p>
        </p:txBody>
      </p:sp>
      <p:graphicFrame>
        <p:nvGraphicFramePr>
          <p:cNvPr id="3" name="Graphique population Afrique" descr=""/>
          <p:cNvGraphicFramePr/>
          <p:nvPr/>
        </p:nvGraphicFramePr>
        <p:xfrm>
          <a:off x="548640" y="1371600"/>
          <a:ext cx="4572000" cy="4846320"/>
        </p:xfrm>
        <a:graphic xmlns:a="http://schemas.openxmlformats.org/drawingml/2006/main">
          <a:graphicData uri="http://schemas.openxmlformats.org/drawingml/2006/chart">
            <c:chart xmlns:c="http://schemas.openxmlformats.org/drawingml/2006/chart" r:id="rId1"/>
          </a:graphicData>
        </a:graphic>
      </p:graphicFrame>
      <p:sp>
        <p:nvSpPr>
          <p:cNvPr id="4" name="Le mobile partout cercle"/>
          <p:cNvSpPr/>
          <p:nvPr/>
        </p:nvSpPr>
        <p:spPr>
          <a:xfrm>
            <a:off x="5486400" y="1481328"/>
            <a:ext cx="868680" cy="868680"/>
          </a:xfrm>
          <a:prstGeom prst="ellipse">
            <a:avLst/>
          </a:prstGeom>
          <a:solidFill>
            <a:schemeClr val="accent3"/>
          </a:solidFill>
          <a:ln/>
        </p:spPr>
      </p:sp>
      <p:pic>
        <p:nvPicPr>
          <p:cNvPr id="5" name="Le mobile partout icône" descr="Le mobile partout">    </p:cNvPr>
          <p:cNvPicPr>
            <a:picLocks noChangeAspect="1"/>
          </p:cNvPicPr>
          <p:nvPr/>
        </p:nvPicPr>
        <p:blipFill>
          <a:blip r:embed="rId2"/>
          <a:stretch>
            <a:fillRect/>
          </a:stretch>
        </p:blipFill>
        <p:spPr>
          <a:xfrm>
            <a:off x="5712257" y="1707185"/>
            <a:ext cx="416966" cy="416966"/>
          </a:xfrm>
          <a:prstGeom prst="rect">
            <a:avLst/>
          </a:prstGeom>
        </p:spPr>
      </p:pic>
      <p:sp>
        <p:nvSpPr>
          <p:cNvPr id="6" name="Text 2"/>
          <p:cNvSpPr txBox="1"/>
          <p:nvPr/>
        </p:nvSpPr>
        <p:spPr>
          <a:xfrm>
            <a:off x="6537960" y="1371600"/>
            <a:ext cx="5074920" cy="1143000"/>
          </a:xfrm>
          <a:prstGeom prst="rect">
            <a:avLst/>
          </a:prstGeom>
          <a:noFill/>
          <a:ln/>
        </p:spPr>
        <p:txBody>
          <a:bodyPr wrap="square" lIns="0" tIns="0" rIns="0" bIns="0" rtlCol="0" anchor="ctr"/>
          <a:lstStyle/>
          <a:p>
            <a:pPr indent="0" marL="0">
              <a:buNone/>
            </a:pPr>
            <a:r>
              <a:rPr lang="en-US" sz="2200" b="1" dirty="0">
                <a:solidFill>
                  <a:schemeClr val="tx2"/>
                </a:solidFill>
              </a:rPr>
              <a:t>Le mobile partout</a:t>
            </a:r>
            <a:endParaRPr lang="en-US" sz="2200" dirty="0"/>
          </a:p>
          <a:p>
            <a:pPr indent="0" marL="0">
              <a:buNone/>
            </a:pPr>
            <a:r>
              <a:rPr lang="en-US" sz="2000" dirty="0">
                <a:solidFill>
                  <a:schemeClr val="tx1"/>
                </a:solidFill>
              </a:rPr>
              <a:t>WhatsApp, Facebook et TikTok : vendre et former à distance avec un simple téléphone</a:t>
            </a:r>
            <a:endParaRPr lang="en-US" sz="2200" dirty="0"/>
          </a:p>
        </p:txBody>
      </p:sp>
      <p:sp>
        <p:nvSpPr>
          <p:cNvPr id="7" name="Le mobile money cercle"/>
          <p:cNvSpPr/>
          <p:nvPr/>
        </p:nvSpPr>
        <p:spPr>
          <a:xfrm>
            <a:off x="5486400" y="2697480"/>
            <a:ext cx="868680" cy="868680"/>
          </a:xfrm>
          <a:prstGeom prst="ellipse">
            <a:avLst/>
          </a:prstGeom>
          <a:solidFill>
            <a:schemeClr val="accent3"/>
          </a:solidFill>
          <a:ln/>
        </p:spPr>
      </p:sp>
      <p:pic>
        <p:nvPicPr>
          <p:cNvPr id="8" name="Le mobile money icône" descr="Le mobile money">    </p:cNvPr>
          <p:cNvPicPr>
            <a:picLocks noChangeAspect="1"/>
          </p:cNvPicPr>
          <p:nvPr/>
        </p:nvPicPr>
        <p:blipFill>
          <a:blip r:embed="rId3"/>
          <a:stretch>
            <a:fillRect/>
          </a:stretch>
        </p:blipFill>
        <p:spPr>
          <a:xfrm>
            <a:off x="5712257" y="2923337"/>
            <a:ext cx="416966" cy="416966"/>
          </a:xfrm>
          <a:prstGeom prst="rect">
            <a:avLst/>
          </a:prstGeom>
        </p:spPr>
      </p:pic>
      <p:sp>
        <p:nvSpPr>
          <p:cNvPr id="9" name="Text 4"/>
          <p:cNvSpPr txBox="1"/>
          <p:nvPr/>
        </p:nvSpPr>
        <p:spPr>
          <a:xfrm>
            <a:off x="6537960" y="2587752"/>
            <a:ext cx="5074920" cy="1143000"/>
          </a:xfrm>
          <a:prstGeom prst="rect">
            <a:avLst/>
          </a:prstGeom>
          <a:noFill/>
          <a:ln/>
        </p:spPr>
        <p:txBody>
          <a:bodyPr wrap="square" lIns="0" tIns="0" rIns="0" bIns="0" rtlCol="0" anchor="ctr"/>
          <a:lstStyle/>
          <a:p>
            <a:pPr indent="0" marL="0">
              <a:buNone/>
            </a:pPr>
            <a:r>
              <a:rPr lang="en-US" sz="2200" b="1" dirty="0">
                <a:solidFill>
                  <a:schemeClr val="tx2"/>
                </a:solidFill>
              </a:rPr>
              <a:t>Le mobile money</a:t>
            </a:r>
            <a:endParaRPr lang="en-US" sz="2200" dirty="0"/>
          </a:p>
          <a:p>
            <a:pPr indent="0" marL="0">
              <a:buNone/>
            </a:pPr>
            <a:r>
              <a:rPr lang="en-US" sz="2000" dirty="0">
                <a:solidFill>
                  <a:schemeClr val="tx1"/>
                </a:solidFill>
              </a:rPr>
              <a:t>≈ 1 milliard de comptes en Afrique subsaharienne : payer et être payé facilement</a:t>
            </a:r>
            <a:endParaRPr lang="en-US" sz="2200" dirty="0"/>
          </a:p>
        </p:txBody>
      </p:sp>
      <p:sp>
        <p:nvSpPr>
          <p:cNvPr id="10" name="La ZLECAf cercle"/>
          <p:cNvSpPr/>
          <p:nvPr/>
        </p:nvSpPr>
        <p:spPr>
          <a:xfrm>
            <a:off x="5486400" y="3913632"/>
            <a:ext cx="868680" cy="868680"/>
          </a:xfrm>
          <a:prstGeom prst="ellipse">
            <a:avLst/>
          </a:prstGeom>
          <a:solidFill>
            <a:schemeClr val="accent3"/>
          </a:solidFill>
          <a:ln/>
        </p:spPr>
      </p:sp>
      <p:pic>
        <p:nvPicPr>
          <p:cNvPr id="11" name="La ZLECAf icône" descr="La ZLECAf">    </p:cNvPr>
          <p:cNvPicPr>
            <a:picLocks noChangeAspect="1"/>
          </p:cNvPicPr>
          <p:nvPr/>
        </p:nvPicPr>
        <p:blipFill>
          <a:blip r:embed="rId4"/>
          <a:stretch>
            <a:fillRect/>
          </a:stretch>
        </p:blipFill>
        <p:spPr>
          <a:xfrm>
            <a:off x="5712257" y="4139489"/>
            <a:ext cx="416966" cy="416966"/>
          </a:xfrm>
          <a:prstGeom prst="rect">
            <a:avLst/>
          </a:prstGeom>
        </p:spPr>
      </p:pic>
      <p:sp>
        <p:nvSpPr>
          <p:cNvPr id="12" name="Text 6"/>
          <p:cNvSpPr txBox="1"/>
          <p:nvPr/>
        </p:nvSpPr>
        <p:spPr>
          <a:xfrm>
            <a:off x="6537960" y="3803904"/>
            <a:ext cx="5074920" cy="1143000"/>
          </a:xfrm>
          <a:prstGeom prst="rect">
            <a:avLst/>
          </a:prstGeom>
          <a:noFill/>
          <a:ln/>
        </p:spPr>
        <p:txBody>
          <a:bodyPr wrap="square" lIns="0" tIns="0" rIns="0" bIns="0" rtlCol="0" anchor="ctr"/>
          <a:lstStyle/>
          <a:p>
            <a:pPr indent="0" marL="0">
              <a:buNone/>
            </a:pPr>
            <a:r>
              <a:rPr lang="en-US" sz="2200" b="1" dirty="0">
                <a:solidFill>
                  <a:schemeClr val="tx2"/>
                </a:solidFill>
              </a:rPr>
              <a:t>La ZLECAf</a:t>
            </a:r>
            <a:endParaRPr lang="en-US" sz="2200" dirty="0"/>
          </a:p>
          <a:p>
            <a:pPr indent="0" marL="0">
              <a:buNone/>
            </a:pPr>
            <a:r>
              <a:rPr lang="en-US" sz="2000" dirty="0">
                <a:solidFill>
                  <a:schemeClr val="tx1"/>
                </a:solidFill>
              </a:rPr>
              <a:t>Zone de libre-échange : 54 pays signataires, un marché de ≈ 1,4 milliard de personnes</a:t>
            </a:r>
            <a:endParaRPr lang="en-US" sz="2200" dirty="0"/>
          </a:p>
        </p:txBody>
      </p:sp>
      <p:sp>
        <p:nvSpPr>
          <p:cNvPr id="13" name="L'esprit d'entreprise cercle"/>
          <p:cNvSpPr/>
          <p:nvPr/>
        </p:nvSpPr>
        <p:spPr>
          <a:xfrm>
            <a:off x="5486400" y="5129784"/>
            <a:ext cx="868680" cy="868680"/>
          </a:xfrm>
          <a:prstGeom prst="ellipse">
            <a:avLst/>
          </a:prstGeom>
          <a:solidFill>
            <a:schemeClr val="accent3"/>
          </a:solidFill>
          <a:ln/>
        </p:spPr>
      </p:sp>
      <p:pic>
        <p:nvPicPr>
          <p:cNvPr id="14" name="L'esprit d'entreprise icône" descr="L'esprit d'entreprise">    </p:cNvPr>
          <p:cNvPicPr>
            <a:picLocks noChangeAspect="1"/>
          </p:cNvPicPr>
          <p:nvPr/>
        </p:nvPicPr>
        <p:blipFill>
          <a:blip r:embed="rId5"/>
          <a:stretch>
            <a:fillRect/>
          </a:stretch>
        </p:blipFill>
        <p:spPr>
          <a:xfrm>
            <a:off x="5712257" y="5355641"/>
            <a:ext cx="416966" cy="416966"/>
          </a:xfrm>
          <a:prstGeom prst="rect">
            <a:avLst/>
          </a:prstGeom>
        </p:spPr>
      </p:pic>
      <p:sp>
        <p:nvSpPr>
          <p:cNvPr id="15" name="Text 8"/>
          <p:cNvSpPr txBox="1"/>
          <p:nvPr/>
        </p:nvSpPr>
        <p:spPr>
          <a:xfrm>
            <a:off x="6537960" y="5020056"/>
            <a:ext cx="5074920" cy="1143000"/>
          </a:xfrm>
          <a:prstGeom prst="rect">
            <a:avLst/>
          </a:prstGeom>
          <a:noFill/>
          <a:ln/>
        </p:spPr>
        <p:txBody>
          <a:bodyPr wrap="square" lIns="0" tIns="0" rIns="0" bIns="0" rtlCol="0" anchor="ctr"/>
          <a:lstStyle/>
          <a:p>
            <a:pPr indent="0" marL="0">
              <a:buNone/>
            </a:pPr>
            <a:r>
              <a:rPr lang="en-US" sz="2200" b="1" dirty="0">
                <a:solidFill>
                  <a:schemeClr val="tx2"/>
                </a:solidFill>
              </a:rPr>
              <a:t>L'esprit d'entreprise</a:t>
            </a:r>
            <a:endParaRPr lang="en-US" sz="2200" dirty="0"/>
          </a:p>
          <a:p>
            <a:pPr indent="0" marL="0">
              <a:buNone/>
            </a:pPr>
            <a:r>
              <a:rPr lang="en-US" sz="2000" dirty="0">
                <a:solidFill>
                  <a:schemeClr val="tx1"/>
                </a:solidFill>
              </a:rPr>
              <a:t>Parmi les taux de création d'entreprise les plus élevés au monde</a:t>
            </a:r>
            <a:endParaRPr lang="en-US" sz="22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L'écart qui fait l'opportunité</a:t>
            </a:r>
            <a:endParaRPr lang="en-US" sz="3600" dirty="0"/>
          </a:p>
        </p:txBody>
      </p:sp>
      <p:sp>
        <p:nvSpPr>
          <p:cNvPr id="3" name="Statistique population"/>
          <p:cNvSpPr/>
          <p:nvPr/>
        </p:nvSpPr>
        <p:spPr>
          <a:xfrm>
            <a:off x="548640" y="1463040"/>
            <a:ext cx="3291840" cy="2377440"/>
          </a:xfrm>
          <a:prstGeom prst="roundRect">
            <a:avLst>
              <a:gd name="adj" fmla="val 4615"/>
            </a:avLst>
          </a:prstGeom>
          <a:solidFill>
            <a:schemeClr val="accent3"/>
          </a:solidFill>
          <a:ln/>
        </p:spPr>
      </p:sp>
      <p:sp>
        <p:nvSpPr>
          <p:cNvPr id="4" name="Text 2"/>
          <p:cNvSpPr txBox="1"/>
          <p:nvPr/>
        </p:nvSpPr>
        <p:spPr>
          <a:xfrm>
            <a:off x="777240" y="1600200"/>
            <a:ext cx="2834640" cy="2103120"/>
          </a:xfrm>
          <a:prstGeom prst="rect">
            <a:avLst/>
          </a:prstGeom>
          <a:noFill/>
          <a:ln/>
        </p:spPr>
        <p:txBody>
          <a:bodyPr wrap="square" lIns="0" tIns="0" rIns="0" bIns="0" rtlCol="0" anchor="ctr"/>
          <a:lstStyle/>
          <a:p>
            <a:pPr algn="ctr" indent="0" marL="0">
              <a:buNone/>
            </a:pPr>
            <a:r>
              <a:rPr lang="en-US" sz="5400" b="1" dirty="0">
                <a:solidFill>
                  <a:schemeClr val="bg1"/>
                </a:solidFill>
                <a:latin typeface="Cambria" pitchFamily="34" charset="0"/>
                <a:ea typeface="Cambria" pitchFamily="34" charset="-122"/>
                <a:cs typeface="Cambria" pitchFamily="34" charset="-120"/>
              </a:rPr>
              <a:t>≈ 18 %</a:t>
            </a:r>
            <a:endParaRPr lang="en-US" sz="2200" dirty="0"/>
          </a:p>
          <a:p>
            <a:pPr algn="ctr" indent="0" marL="0">
              <a:buNone/>
            </a:pPr>
            <a:r>
              <a:rPr lang="en-US" sz="2200" dirty="0">
                <a:solidFill>
                  <a:schemeClr val="bg1"/>
                </a:solidFill>
              </a:rPr>
              <a:t>de la population mondiale</a:t>
            </a:r>
            <a:endParaRPr lang="en-US" sz="2200" dirty="0"/>
          </a:p>
        </p:txBody>
      </p:sp>
      <p:sp>
        <p:nvSpPr>
          <p:cNvPr id="5" name="Text 3"/>
          <p:cNvSpPr txBox="1"/>
          <p:nvPr/>
        </p:nvSpPr>
        <p:spPr>
          <a:xfrm>
            <a:off x="3840480" y="2286000"/>
            <a:ext cx="822960" cy="731520"/>
          </a:xfrm>
          <a:prstGeom prst="rect">
            <a:avLst/>
          </a:prstGeom>
          <a:noFill/>
          <a:ln/>
        </p:spPr>
        <p:txBody>
          <a:bodyPr wrap="square" lIns="0" tIns="0" rIns="0" bIns="0" rtlCol="0" anchor="ctr"/>
          <a:lstStyle/>
          <a:p>
            <a:pPr algn="ctr" indent="0" marL="0">
              <a:buNone/>
            </a:pPr>
            <a:r>
              <a:rPr lang="en-US" sz="3200" b="1" dirty="0">
                <a:solidFill>
                  <a:schemeClr val="accent6"/>
                </a:solidFill>
              </a:rPr>
              <a:t>vs</a:t>
            </a:r>
            <a:endParaRPr lang="en-US" sz="3200" dirty="0"/>
          </a:p>
        </p:txBody>
      </p:sp>
      <p:sp>
        <p:nvSpPr>
          <p:cNvPr id="6" name="Statistique ventes"/>
          <p:cNvSpPr/>
          <p:nvPr/>
        </p:nvSpPr>
        <p:spPr>
          <a:xfrm>
            <a:off x="4663440" y="1463040"/>
            <a:ext cx="3291840" cy="2377440"/>
          </a:xfrm>
          <a:prstGeom prst="roundRect">
            <a:avLst>
              <a:gd name="adj" fmla="val 4615"/>
            </a:avLst>
          </a:prstGeom>
          <a:solidFill>
            <a:schemeClr val="accent2"/>
          </a:solidFill>
          <a:ln/>
        </p:spPr>
      </p:sp>
      <p:sp>
        <p:nvSpPr>
          <p:cNvPr id="7" name="Text 5"/>
          <p:cNvSpPr txBox="1"/>
          <p:nvPr/>
        </p:nvSpPr>
        <p:spPr>
          <a:xfrm>
            <a:off x="4892040" y="1600200"/>
            <a:ext cx="2834640" cy="2103120"/>
          </a:xfrm>
          <a:prstGeom prst="rect">
            <a:avLst/>
          </a:prstGeom>
          <a:noFill/>
          <a:ln/>
        </p:spPr>
        <p:txBody>
          <a:bodyPr wrap="square" lIns="0" tIns="0" rIns="0" bIns="0" rtlCol="0" anchor="ctr"/>
          <a:lstStyle/>
          <a:p>
            <a:pPr algn="ctr" indent="0" marL="0">
              <a:buNone/>
            </a:pPr>
            <a:r>
              <a:rPr lang="en-US" sz="5400" b="1" dirty="0">
                <a:solidFill>
                  <a:schemeClr val="bg1"/>
                </a:solidFill>
                <a:latin typeface="Cambria" pitchFamily="34" charset="0"/>
                <a:ea typeface="Cambria" pitchFamily="34" charset="-122"/>
                <a:cs typeface="Cambria" pitchFamily="34" charset="-120"/>
              </a:rPr>
              <a:t>≈ 3 %</a:t>
            </a:r>
            <a:endParaRPr lang="en-US" sz="2200" dirty="0"/>
          </a:p>
          <a:p>
            <a:pPr algn="ctr" indent="0" marL="0">
              <a:buNone/>
            </a:pPr>
            <a:r>
              <a:rPr lang="en-US" sz="2200" dirty="0">
                <a:solidFill>
                  <a:schemeClr val="bg1"/>
                </a:solidFill>
              </a:rPr>
              <a:t>des ventes mondiales (avec le M.-O.)</a:t>
            </a:r>
            <a:endParaRPr lang="en-US" sz="2200" dirty="0"/>
          </a:p>
        </p:txBody>
      </p:sp>
      <p:sp>
        <p:nvSpPr>
          <p:cNvPr id="8" name="Text 6"/>
          <p:cNvSpPr txBox="1"/>
          <p:nvPr/>
        </p:nvSpPr>
        <p:spPr>
          <a:xfrm>
            <a:off x="8321040" y="1463040"/>
            <a:ext cx="3291840" cy="2377440"/>
          </a:xfrm>
          <a:prstGeom prst="rect">
            <a:avLst/>
          </a:prstGeom>
          <a:noFill/>
          <a:ln/>
        </p:spPr>
        <p:txBody>
          <a:bodyPr wrap="square" lIns="0" tIns="0" rIns="0" bIns="0" rtlCol="0" anchor="ctr"/>
          <a:lstStyle/>
          <a:p>
            <a:pPr indent="0" marL="0">
              <a:buNone/>
            </a:pPr>
            <a:r>
              <a:rPr lang="en-US" sz="2200" b="1" dirty="0">
                <a:solidFill>
                  <a:schemeClr val="tx2"/>
                </a:solidFill>
              </a:rPr>
              <a:t>Marchés déjà actifs</a:t>
            </a:r>
            <a:endParaRPr lang="en-US" sz="2200" dirty="0"/>
          </a:p>
          <a:p>
            <a:pPr indent="0" marL="0">
              <a:buNone/>
            </a:pPr>
            <a:r>
              <a:rPr lang="en-US" sz="2000" dirty="0">
                <a:solidFill>
                  <a:schemeClr val="tx1"/>
                </a:solidFill>
              </a:rPr>
              <a:t>Nigeria, Afrique du Sud, Côte d'Ivoire, Cameroun, Ghana, Kenya, Maroc, Sénégal…</a:t>
            </a:r>
            <a:endParaRPr lang="en-US" sz="2200" dirty="0"/>
          </a:p>
        </p:txBody>
      </p:sp>
      <p:sp>
        <p:nvSpPr>
          <p:cNvPr id="9" name="Text 7"/>
          <p:cNvSpPr txBox="1"/>
          <p:nvPr/>
        </p:nvSpPr>
        <p:spPr>
          <a:xfrm>
            <a:off x="548640" y="4114800"/>
            <a:ext cx="11064240" cy="502920"/>
          </a:xfrm>
          <a:prstGeom prst="rect">
            <a:avLst/>
          </a:prstGeom>
          <a:noFill/>
          <a:ln/>
        </p:spPr>
        <p:txBody>
          <a:bodyPr wrap="square" lIns="0" tIns="0" rIns="0" bIns="0" rtlCol="0" anchor="t"/>
          <a:lstStyle/>
          <a:p>
            <a:pPr indent="0" marL="0">
              <a:buNone/>
            </a:pPr>
            <a:r>
              <a:rPr lang="en-US" sz="2200" b="1" dirty="0">
                <a:solidFill>
                  <a:schemeClr val="tx2"/>
                </a:solidFill>
              </a:rPr>
              <a:t>Secteurs porteurs en Afrique :</a:t>
            </a:r>
            <a:endParaRPr lang="en-US" sz="2200" dirty="0"/>
          </a:p>
        </p:txBody>
      </p:sp>
      <p:sp>
        <p:nvSpPr>
          <p:cNvPr id="10" name="Secteur Santé &amp; bien-être"/>
          <p:cNvSpPr/>
          <p:nvPr/>
        </p:nvSpPr>
        <p:spPr>
          <a:xfrm>
            <a:off x="548640" y="4754880"/>
            <a:ext cx="3566160" cy="640080"/>
          </a:xfrm>
          <a:prstGeom prst="roundRect">
            <a:avLst>
              <a:gd name="adj" fmla="val 17143"/>
            </a:avLst>
          </a:prstGeom>
          <a:solidFill>
            <a:schemeClr val="bg2"/>
          </a:solidFill>
          <a:ln/>
        </p:spPr>
      </p:sp>
      <p:sp>
        <p:nvSpPr>
          <p:cNvPr id="11" name="Text 9"/>
          <p:cNvSpPr txBox="1"/>
          <p:nvPr/>
        </p:nvSpPr>
        <p:spPr>
          <a:xfrm>
            <a:off x="548640" y="4754880"/>
            <a:ext cx="3566160" cy="640080"/>
          </a:xfrm>
          <a:prstGeom prst="rect">
            <a:avLst/>
          </a:prstGeom>
          <a:noFill/>
          <a:ln/>
        </p:spPr>
        <p:txBody>
          <a:bodyPr wrap="square" lIns="0" tIns="0" rIns="0" bIns="0" rtlCol="0" anchor="ctr"/>
          <a:lstStyle/>
          <a:p>
            <a:pPr algn="ctr" indent="0" marL="0">
              <a:buNone/>
            </a:pPr>
            <a:r>
              <a:rPr lang="en-US" sz="2100" b="1" dirty="0">
                <a:solidFill>
                  <a:schemeClr val="tx2"/>
                </a:solidFill>
              </a:rPr>
              <a:t>Santé &amp; bien-être</a:t>
            </a:r>
            <a:endParaRPr lang="en-US" sz="2100" dirty="0"/>
          </a:p>
        </p:txBody>
      </p:sp>
      <p:sp>
        <p:nvSpPr>
          <p:cNvPr id="12" name="Secteur Nutrition"/>
          <p:cNvSpPr/>
          <p:nvPr/>
        </p:nvSpPr>
        <p:spPr>
          <a:xfrm>
            <a:off x="4297680" y="4754880"/>
            <a:ext cx="3566160" cy="640080"/>
          </a:xfrm>
          <a:prstGeom prst="roundRect">
            <a:avLst>
              <a:gd name="adj" fmla="val 17143"/>
            </a:avLst>
          </a:prstGeom>
          <a:solidFill>
            <a:schemeClr val="bg2"/>
          </a:solidFill>
          <a:ln/>
        </p:spPr>
      </p:sp>
      <p:sp>
        <p:nvSpPr>
          <p:cNvPr id="13" name="Text 11"/>
          <p:cNvSpPr txBox="1"/>
          <p:nvPr/>
        </p:nvSpPr>
        <p:spPr>
          <a:xfrm>
            <a:off x="4297680" y="4754880"/>
            <a:ext cx="3566160" cy="640080"/>
          </a:xfrm>
          <a:prstGeom prst="rect">
            <a:avLst/>
          </a:prstGeom>
          <a:noFill/>
          <a:ln/>
        </p:spPr>
        <p:txBody>
          <a:bodyPr wrap="square" lIns="0" tIns="0" rIns="0" bIns="0" rtlCol="0" anchor="ctr"/>
          <a:lstStyle/>
          <a:p>
            <a:pPr algn="ctr" indent="0" marL="0">
              <a:buNone/>
            </a:pPr>
            <a:r>
              <a:rPr lang="en-US" sz="2100" b="1" dirty="0">
                <a:solidFill>
                  <a:schemeClr val="tx2"/>
                </a:solidFill>
              </a:rPr>
              <a:t>Nutrition</a:t>
            </a:r>
            <a:endParaRPr lang="en-US" sz="2100" dirty="0"/>
          </a:p>
        </p:txBody>
      </p:sp>
      <p:sp>
        <p:nvSpPr>
          <p:cNvPr id="14" name="Secteur Cosmétiques"/>
          <p:cNvSpPr/>
          <p:nvPr/>
        </p:nvSpPr>
        <p:spPr>
          <a:xfrm>
            <a:off x="8046720" y="4754880"/>
            <a:ext cx="3566160" cy="640080"/>
          </a:xfrm>
          <a:prstGeom prst="roundRect">
            <a:avLst>
              <a:gd name="adj" fmla="val 17143"/>
            </a:avLst>
          </a:prstGeom>
          <a:solidFill>
            <a:schemeClr val="bg2"/>
          </a:solidFill>
          <a:ln/>
        </p:spPr>
      </p:sp>
      <p:sp>
        <p:nvSpPr>
          <p:cNvPr id="15" name="Text 13"/>
          <p:cNvSpPr txBox="1"/>
          <p:nvPr/>
        </p:nvSpPr>
        <p:spPr>
          <a:xfrm>
            <a:off x="8046720" y="4754880"/>
            <a:ext cx="3566160" cy="640080"/>
          </a:xfrm>
          <a:prstGeom prst="rect">
            <a:avLst/>
          </a:prstGeom>
          <a:noFill/>
          <a:ln/>
        </p:spPr>
        <p:txBody>
          <a:bodyPr wrap="square" lIns="0" tIns="0" rIns="0" bIns="0" rtlCol="0" anchor="ctr"/>
          <a:lstStyle/>
          <a:p>
            <a:pPr algn="ctr" indent="0" marL="0">
              <a:buNone/>
            </a:pPr>
            <a:r>
              <a:rPr lang="en-US" sz="2100" b="1" dirty="0">
                <a:solidFill>
                  <a:schemeClr val="tx2"/>
                </a:solidFill>
              </a:rPr>
              <a:t>Cosmétiques</a:t>
            </a:r>
            <a:endParaRPr lang="en-US" sz="2100" dirty="0"/>
          </a:p>
        </p:txBody>
      </p:sp>
      <p:sp>
        <p:nvSpPr>
          <p:cNvPr id="16" name="Secteur Hygiène &amp; maison"/>
          <p:cNvSpPr/>
          <p:nvPr/>
        </p:nvSpPr>
        <p:spPr>
          <a:xfrm>
            <a:off x="548640" y="5532120"/>
            <a:ext cx="3566160" cy="640080"/>
          </a:xfrm>
          <a:prstGeom prst="roundRect">
            <a:avLst>
              <a:gd name="adj" fmla="val 17143"/>
            </a:avLst>
          </a:prstGeom>
          <a:solidFill>
            <a:schemeClr val="bg2"/>
          </a:solidFill>
          <a:ln/>
        </p:spPr>
      </p:sp>
      <p:sp>
        <p:nvSpPr>
          <p:cNvPr id="17" name="Text 15"/>
          <p:cNvSpPr txBox="1"/>
          <p:nvPr/>
        </p:nvSpPr>
        <p:spPr>
          <a:xfrm>
            <a:off x="548640" y="5532120"/>
            <a:ext cx="3566160" cy="640080"/>
          </a:xfrm>
          <a:prstGeom prst="rect">
            <a:avLst/>
          </a:prstGeom>
          <a:noFill/>
          <a:ln/>
        </p:spPr>
        <p:txBody>
          <a:bodyPr wrap="square" lIns="0" tIns="0" rIns="0" bIns="0" rtlCol="0" anchor="ctr"/>
          <a:lstStyle/>
          <a:p>
            <a:pPr algn="ctr" indent="0" marL="0">
              <a:buNone/>
            </a:pPr>
            <a:r>
              <a:rPr lang="en-US" sz="2100" b="1" dirty="0">
                <a:solidFill>
                  <a:schemeClr val="tx2"/>
                </a:solidFill>
              </a:rPr>
              <a:t>Hygiène &amp; maison</a:t>
            </a:r>
            <a:endParaRPr lang="en-US" sz="2100" dirty="0"/>
          </a:p>
        </p:txBody>
      </p:sp>
      <p:sp>
        <p:nvSpPr>
          <p:cNvPr id="18" name="Secteur Agriculture"/>
          <p:cNvSpPr/>
          <p:nvPr/>
        </p:nvSpPr>
        <p:spPr>
          <a:xfrm>
            <a:off x="4297680" y="5532120"/>
            <a:ext cx="3566160" cy="640080"/>
          </a:xfrm>
          <a:prstGeom prst="roundRect">
            <a:avLst>
              <a:gd name="adj" fmla="val 17143"/>
            </a:avLst>
          </a:prstGeom>
          <a:solidFill>
            <a:schemeClr val="bg2"/>
          </a:solidFill>
          <a:ln/>
        </p:spPr>
      </p:sp>
      <p:sp>
        <p:nvSpPr>
          <p:cNvPr id="19" name="Text 17"/>
          <p:cNvSpPr txBox="1"/>
          <p:nvPr/>
        </p:nvSpPr>
        <p:spPr>
          <a:xfrm>
            <a:off x="4297680" y="5532120"/>
            <a:ext cx="3566160" cy="640080"/>
          </a:xfrm>
          <a:prstGeom prst="rect">
            <a:avLst/>
          </a:prstGeom>
          <a:noFill/>
          <a:ln/>
        </p:spPr>
        <p:txBody>
          <a:bodyPr wrap="square" lIns="0" tIns="0" rIns="0" bIns="0" rtlCol="0" anchor="ctr"/>
          <a:lstStyle/>
          <a:p>
            <a:pPr algn="ctr" indent="0" marL="0">
              <a:buNone/>
            </a:pPr>
            <a:r>
              <a:rPr lang="en-US" sz="2100" b="1" dirty="0">
                <a:solidFill>
                  <a:schemeClr val="tx2"/>
                </a:solidFill>
              </a:rPr>
              <a:t>Agriculture</a:t>
            </a:r>
            <a:endParaRPr lang="en-US" sz="2100" dirty="0"/>
          </a:p>
        </p:txBody>
      </p:sp>
      <p:sp>
        <p:nvSpPr>
          <p:cNvPr id="20" name="Secteur Services numériques"/>
          <p:cNvSpPr/>
          <p:nvPr/>
        </p:nvSpPr>
        <p:spPr>
          <a:xfrm>
            <a:off x="8046720" y="5532120"/>
            <a:ext cx="3566160" cy="640080"/>
          </a:xfrm>
          <a:prstGeom prst="roundRect">
            <a:avLst>
              <a:gd name="adj" fmla="val 17143"/>
            </a:avLst>
          </a:prstGeom>
          <a:solidFill>
            <a:schemeClr val="bg2"/>
          </a:solidFill>
          <a:ln/>
        </p:spPr>
      </p:sp>
      <p:sp>
        <p:nvSpPr>
          <p:cNvPr id="21" name="Text 19"/>
          <p:cNvSpPr txBox="1"/>
          <p:nvPr/>
        </p:nvSpPr>
        <p:spPr>
          <a:xfrm>
            <a:off x="8046720" y="5532120"/>
            <a:ext cx="3566160" cy="640080"/>
          </a:xfrm>
          <a:prstGeom prst="rect">
            <a:avLst/>
          </a:prstGeom>
          <a:noFill/>
          <a:ln/>
        </p:spPr>
        <p:txBody>
          <a:bodyPr wrap="square" lIns="0" tIns="0" rIns="0" bIns="0" rtlCol="0" anchor="ctr"/>
          <a:lstStyle/>
          <a:p>
            <a:pPr algn="ctr" indent="0" marL="0">
              <a:buNone/>
            </a:pPr>
            <a:r>
              <a:rPr lang="en-US" sz="2100" b="1" dirty="0">
                <a:solidFill>
                  <a:schemeClr val="tx2"/>
                </a:solidFill>
              </a:rPr>
              <a:t>Services numériques</a:t>
            </a:r>
            <a:endParaRPr lang="en-US" sz="21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Réussir en Afrique : les conditions</a:t>
            </a:r>
            <a:endParaRPr lang="en-US" sz="3600" dirty="0"/>
          </a:p>
        </p:txBody>
      </p:sp>
      <p:sp>
        <p:nvSpPr>
          <p:cNvPr id="3" name="Carte Une entreprise sérieuse"/>
          <p:cNvSpPr/>
          <p:nvPr/>
        </p:nvSpPr>
        <p:spPr>
          <a:xfrm>
            <a:off x="548640" y="1463040"/>
            <a:ext cx="5440680" cy="1783080"/>
          </a:xfrm>
          <a:prstGeom prst="roundRect">
            <a:avLst>
              <a:gd name="adj" fmla="val 6154"/>
            </a:avLst>
          </a:prstGeom>
          <a:solidFill>
            <a:schemeClr val="bg2"/>
          </a:solidFill>
          <a:ln/>
        </p:spPr>
      </p:sp>
      <p:sp>
        <p:nvSpPr>
          <p:cNvPr id="4" name="Une entreprise sérieuse cercle"/>
          <p:cNvSpPr/>
          <p:nvPr/>
        </p:nvSpPr>
        <p:spPr>
          <a:xfrm>
            <a:off x="822960" y="1874520"/>
            <a:ext cx="960120" cy="960120"/>
          </a:xfrm>
          <a:prstGeom prst="ellipse">
            <a:avLst/>
          </a:prstGeom>
          <a:solidFill>
            <a:schemeClr val="accent3"/>
          </a:solidFill>
          <a:ln/>
        </p:spPr>
      </p:sp>
      <p:pic>
        <p:nvPicPr>
          <p:cNvPr id="5" name="Une entreprise sérieuse icône" descr="Une entreprise sérieuse">    </p:cNvPr>
          <p:cNvPicPr>
            <a:picLocks noChangeAspect="1"/>
          </p:cNvPicPr>
          <p:nvPr/>
        </p:nvPicPr>
        <p:blipFill>
          <a:blip r:embed="rId1"/>
          <a:stretch>
            <a:fillRect/>
          </a:stretch>
        </p:blipFill>
        <p:spPr>
          <a:xfrm>
            <a:off x="1072591" y="2124151"/>
            <a:ext cx="460858" cy="460858"/>
          </a:xfrm>
          <a:prstGeom prst="rect">
            <a:avLst/>
          </a:prstGeom>
        </p:spPr>
      </p:pic>
      <p:sp>
        <p:nvSpPr>
          <p:cNvPr id="6" name="Text 3"/>
          <p:cNvSpPr txBox="1"/>
          <p:nvPr/>
        </p:nvSpPr>
        <p:spPr>
          <a:xfrm>
            <a:off x="2011680" y="1600200"/>
            <a:ext cx="3794760" cy="1508760"/>
          </a:xfrm>
          <a:prstGeom prst="rect">
            <a:avLst/>
          </a:prstGeom>
          <a:noFill/>
          <a:ln/>
        </p:spPr>
        <p:txBody>
          <a:bodyPr wrap="square" lIns="0" tIns="0" rIns="0" bIns="0" rtlCol="0" anchor="ctr"/>
          <a:lstStyle/>
          <a:p>
            <a:pPr indent="0" marL="0">
              <a:buNone/>
            </a:pPr>
            <a:r>
              <a:rPr lang="en-US" sz="2400" b="1" dirty="0">
                <a:solidFill>
                  <a:schemeClr val="tx2"/>
                </a:solidFill>
              </a:rPr>
              <a:t>Une entreprise sérieuse</a:t>
            </a:r>
            <a:endParaRPr lang="en-US" sz="2200" dirty="0"/>
          </a:p>
          <a:p>
            <a:pPr indent="0" marL="0">
              <a:buNone/>
            </a:pPr>
            <a:r>
              <a:rPr lang="en-US" sz="2000" dirty="0">
                <a:solidFill>
                  <a:schemeClr val="tx1"/>
                </a:solidFill>
              </a:rPr>
              <a:t>Agréée, transparente, qui publie la rémunération de ses distributeurs</a:t>
            </a:r>
            <a:endParaRPr lang="en-US" sz="2200" dirty="0"/>
          </a:p>
        </p:txBody>
      </p:sp>
      <p:sp>
        <p:nvSpPr>
          <p:cNvPr id="7" name="Carte Des produits adaptés"/>
          <p:cNvSpPr/>
          <p:nvPr/>
        </p:nvSpPr>
        <p:spPr>
          <a:xfrm>
            <a:off x="6172200" y="1463040"/>
            <a:ext cx="5440680" cy="1783080"/>
          </a:xfrm>
          <a:prstGeom prst="roundRect">
            <a:avLst>
              <a:gd name="adj" fmla="val 6154"/>
            </a:avLst>
          </a:prstGeom>
          <a:solidFill>
            <a:schemeClr val="bg2"/>
          </a:solidFill>
          <a:ln/>
        </p:spPr>
      </p:sp>
      <p:sp>
        <p:nvSpPr>
          <p:cNvPr id="8" name="Des produits adaptés cercle"/>
          <p:cNvSpPr/>
          <p:nvPr/>
        </p:nvSpPr>
        <p:spPr>
          <a:xfrm>
            <a:off x="6446520" y="1874520"/>
            <a:ext cx="960120" cy="960120"/>
          </a:xfrm>
          <a:prstGeom prst="ellipse">
            <a:avLst/>
          </a:prstGeom>
          <a:solidFill>
            <a:schemeClr val="accent3"/>
          </a:solidFill>
          <a:ln/>
        </p:spPr>
      </p:sp>
      <p:pic>
        <p:nvPicPr>
          <p:cNvPr id="9" name="Des produits adaptés icône" descr="Des produits adaptés">    </p:cNvPr>
          <p:cNvPicPr>
            <a:picLocks noChangeAspect="1"/>
          </p:cNvPicPr>
          <p:nvPr/>
        </p:nvPicPr>
        <p:blipFill>
          <a:blip r:embed="rId2"/>
          <a:stretch>
            <a:fillRect/>
          </a:stretch>
        </p:blipFill>
        <p:spPr>
          <a:xfrm>
            <a:off x="6696151" y="2124151"/>
            <a:ext cx="460858" cy="460858"/>
          </a:xfrm>
          <a:prstGeom prst="rect">
            <a:avLst/>
          </a:prstGeom>
        </p:spPr>
      </p:pic>
      <p:sp>
        <p:nvSpPr>
          <p:cNvPr id="10" name="Text 6"/>
          <p:cNvSpPr txBox="1"/>
          <p:nvPr/>
        </p:nvSpPr>
        <p:spPr>
          <a:xfrm>
            <a:off x="7635240" y="1600200"/>
            <a:ext cx="3794760" cy="1508760"/>
          </a:xfrm>
          <a:prstGeom prst="rect">
            <a:avLst/>
          </a:prstGeom>
          <a:noFill/>
          <a:ln/>
        </p:spPr>
        <p:txBody>
          <a:bodyPr wrap="square" lIns="0" tIns="0" rIns="0" bIns="0" rtlCol="0" anchor="ctr"/>
          <a:lstStyle/>
          <a:p>
            <a:pPr indent="0" marL="0">
              <a:buNone/>
            </a:pPr>
            <a:r>
              <a:rPr lang="en-US" sz="2400" b="1" dirty="0">
                <a:solidFill>
                  <a:schemeClr val="tx2"/>
                </a:solidFill>
              </a:rPr>
              <a:t>Des produits adaptés</a:t>
            </a:r>
            <a:endParaRPr lang="en-US" sz="2200" dirty="0"/>
          </a:p>
          <a:p>
            <a:pPr indent="0" marL="0">
              <a:buNone/>
            </a:pPr>
            <a:r>
              <a:rPr lang="en-US" sz="2000" dirty="0">
                <a:solidFill>
                  <a:schemeClr val="tx1"/>
                </a:solidFill>
              </a:rPr>
              <a:t>Utiles, de qualité et accessibles au pouvoir d'achat local</a:t>
            </a:r>
            <a:endParaRPr lang="en-US" sz="2200" dirty="0"/>
          </a:p>
        </p:txBody>
      </p:sp>
      <p:sp>
        <p:nvSpPr>
          <p:cNvPr id="11" name="Carte Les clients d'abord"/>
          <p:cNvSpPr/>
          <p:nvPr/>
        </p:nvSpPr>
        <p:spPr>
          <a:xfrm>
            <a:off x="548640" y="3429000"/>
            <a:ext cx="5440680" cy="1783080"/>
          </a:xfrm>
          <a:prstGeom prst="roundRect">
            <a:avLst>
              <a:gd name="adj" fmla="val 6154"/>
            </a:avLst>
          </a:prstGeom>
          <a:solidFill>
            <a:schemeClr val="bg2"/>
          </a:solidFill>
          <a:ln/>
        </p:spPr>
      </p:sp>
      <p:sp>
        <p:nvSpPr>
          <p:cNvPr id="12" name="Les clients d'abord cercle"/>
          <p:cNvSpPr/>
          <p:nvPr/>
        </p:nvSpPr>
        <p:spPr>
          <a:xfrm>
            <a:off x="822960" y="3840480"/>
            <a:ext cx="960120" cy="960120"/>
          </a:xfrm>
          <a:prstGeom prst="ellipse">
            <a:avLst/>
          </a:prstGeom>
          <a:solidFill>
            <a:schemeClr val="accent3"/>
          </a:solidFill>
          <a:ln/>
        </p:spPr>
      </p:sp>
      <p:pic>
        <p:nvPicPr>
          <p:cNvPr id="13" name="Les clients d'abord icône" descr="Les clients d'abord">    </p:cNvPr>
          <p:cNvPicPr>
            <a:picLocks noChangeAspect="1"/>
          </p:cNvPicPr>
          <p:nvPr/>
        </p:nvPicPr>
        <p:blipFill>
          <a:blip r:embed="rId3"/>
          <a:stretch>
            <a:fillRect/>
          </a:stretch>
        </p:blipFill>
        <p:spPr>
          <a:xfrm>
            <a:off x="1072591" y="4090111"/>
            <a:ext cx="460858" cy="460858"/>
          </a:xfrm>
          <a:prstGeom prst="rect">
            <a:avLst/>
          </a:prstGeom>
        </p:spPr>
      </p:pic>
      <p:sp>
        <p:nvSpPr>
          <p:cNvPr id="14" name="Text 9"/>
          <p:cNvSpPr txBox="1"/>
          <p:nvPr/>
        </p:nvSpPr>
        <p:spPr>
          <a:xfrm>
            <a:off x="2011680" y="3566160"/>
            <a:ext cx="3794760" cy="1508760"/>
          </a:xfrm>
          <a:prstGeom prst="rect">
            <a:avLst/>
          </a:prstGeom>
          <a:noFill/>
          <a:ln/>
        </p:spPr>
        <p:txBody>
          <a:bodyPr wrap="square" lIns="0" tIns="0" rIns="0" bIns="0" rtlCol="0" anchor="ctr"/>
          <a:lstStyle/>
          <a:p>
            <a:pPr indent="0" marL="0">
              <a:buNone/>
            </a:pPr>
            <a:r>
              <a:rPr lang="en-US" sz="2400" b="1" dirty="0">
                <a:solidFill>
                  <a:schemeClr val="tx2"/>
                </a:solidFill>
              </a:rPr>
              <a:t>Les clients d'abord</a:t>
            </a:r>
            <a:endParaRPr lang="en-US" sz="2200" dirty="0"/>
          </a:p>
          <a:p>
            <a:pPr indent="0" marL="0">
              <a:buNone/>
            </a:pPr>
            <a:r>
              <a:rPr lang="en-US" sz="2000" dirty="0">
                <a:solidFill>
                  <a:schemeClr val="tx1"/>
                </a:solidFill>
              </a:rPr>
              <a:t>Les revenus viennent des ventes réelles, pas des droits d'entrée</a:t>
            </a:r>
            <a:endParaRPr lang="en-US" sz="2200" dirty="0"/>
          </a:p>
        </p:txBody>
      </p:sp>
      <p:sp>
        <p:nvSpPr>
          <p:cNvPr id="15" name="Carte Vigilance face aux arnaques"/>
          <p:cNvSpPr/>
          <p:nvPr/>
        </p:nvSpPr>
        <p:spPr>
          <a:xfrm>
            <a:off x="6172200" y="3429000"/>
            <a:ext cx="5440680" cy="1783080"/>
          </a:xfrm>
          <a:prstGeom prst="roundRect">
            <a:avLst>
              <a:gd name="adj" fmla="val 6154"/>
            </a:avLst>
          </a:prstGeom>
          <a:solidFill>
            <a:schemeClr val="bg2"/>
          </a:solidFill>
          <a:ln/>
        </p:spPr>
      </p:sp>
      <p:sp>
        <p:nvSpPr>
          <p:cNvPr id="16" name="Vigilance face aux arnaques cercle"/>
          <p:cNvSpPr/>
          <p:nvPr/>
        </p:nvSpPr>
        <p:spPr>
          <a:xfrm>
            <a:off x="6446520" y="3840480"/>
            <a:ext cx="960120" cy="960120"/>
          </a:xfrm>
          <a:prstGeom prst="ellipse">
            <a:avLst/>
          </a:prstGeom>
          <a:solidFill>
            <a:schemeClr val="accent2"/>
          </a:solidFill>
          <a:ln/>
        </p:spPr>
      </p:sp>
      <p:pic>
        <p:nvPicPr>
          <p:cNvPr id="17" name="Vigilance face aux arnaques icône" descr="Vigilance face aux arnaques">    </p:cNvPr>
          <p:cNvPicPr>
            <a:picLocks noChangeAspect="1"/>
          </p:cNvPicPr>
          <p:nvPr/>
        </p:nvPicPr>
        <p:blipFill>
          <a:blip r:embed="rId4"/>
          <a:stretch>
            <a:fillRect/>
          </a:stretch>
        </p:blipFill>
        <p:spPr>
          <a:xfrm>
            <a:off x="6696151" y="4090111"/>
            <a:ext cx="460858" cy="460858"/>
          </a:xfrm>
          <a:prstGeom prst="rect">
            <a:avLst/>
          </a:prstGeom>
        </p:spPr>
      </p:pic>
      <p:sp>
        <p:nvSpPr>
          <p:cNvPr id="18" name="Text 12"/>
          <p:cNvSpPr txBox="1"/>
          <p:nvPr/>
        </p:nvSpPr>
        <p:spPr>
          <a:xfrm>
            <a:off x="7635240" y="3566160"/>
            <a:ext cx="3794760" cy="1508760"/>
          </a:xfrm>
          <a:prstGeom prst="rect">
            <a:avLst/>
          </a:prstGeom>
          <a:noFill/>
          <a:ln/>
        </p:spPr>
        <p:txBody>
          <a:bodyPr wrap="square" lIns="0" tIns="0" rIns="0" bIns="0" rtlCol="0" anchor="ctr"/>
          <a:lstStyle/>
          <a:p>
            <a:pPr indent="0" marL="0">
              <a:buNone/>
            </a:pPr>
            <a:r>
              <a:rPr lang="en-US" sz="2400" b="1" dirty="0">
                <a:solidFill>
                  <a:schemeClr val="tx2"/>
                </a:solidFill>
              </a:rPr>
              <a:t>Vigilance face aux arnaques</a:t>
            </a:r>
            <a:endParaRPr lang="en-US" sz="2200" dirty="0"/>
          </a:p>
          <a:p>
            <a:pPr indent="0" marL="0">
              <a:buNone/>
            </a:pPr>
            <a:r>
              <a:rPr lang="en-US" sz="2000" dirty="0">
                <a:solidFill>
                  <a:schemeClr val="tx1"/>
                </a:solidFill>
              </a:rPr>
              <a:t>Fuir les systèmes pyramidaux et les promesses d'argent rapide</a:t>
            </a:r>
            <a:endParaRPr lang="en-US" sz="2200" dirty="0"/>
          </a:p>
        </p:txBody>
      </p:sp>
      <p:sp>
        <p:nvSpPr>
          <p:cNvPr id="19" name="Text 13"/>
          <p:cNvSpPr txBox="1"/>
          <p:nvPr/>
        </p:nvSpPr>
        <p:spPr>
          <a:xfrm>
            <a:off x="548640" y="5486400"/>
            <a:ext cx="11064240" cy="777240"/>
          </a:xfrm>
          <a:prstGeom prst="rect">
            <a:avLst/>
          </a:prstGeom>
          <a:noFill/>
          <a:ln/>
        </p:spPr>
        <p:txBody>
          <a:bodyPr wrap="square" lIns="0" tIns="0" rIns="0" bIns="0" rtlCol="0" anchor="ctr"/>
          <a:lstStyle/>
          <a:p>
            <a:pPr indent="0" marL="0">
              <a:buNone/>
            </a:pPr>
            <a:r>
              <a:rPr lang="en-US" sz="2000" i="1" dirty="0">
                <a:solidFill>
                  <a:schemeClr val="accent6"/>
                </a:solidFill>
              </a:rPr>
              <a:t>Résultats variables : la majorité des distributeurs gagnent un revenu modeste ; les gros revenus demandent des années de travail.</a:t>
            </a:r>
            <a:endParaRPr lang="en-US" sz="20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Les 3 ennemis de la puissance du réseau</a:t>
            </a:r>
            <a:endParaRPr lang="en-US" sz="3600" dirty="0"/>
          </a:p>
        </p:txBody>
      </p:sp>
      <p:sp>
        <p:nvSpPr>
          <p:cNvPr id="3" name="Carte L'inconstance"/>
          <p:cNvSpPr/>
          <p:nvPr/>
        </p:nvSpPr>
        <p:spPr>
          <a:xfrm>
            <a:off x="548640" y="1554480"/>
            <a:ext cx="3566160" cy="4572000"/>
          </a:xfrm>
          <a:prstGeom prst="roundRect">
            <a:avLst>
              <a:gd name="adj" fmla="val 3077"/>
            </a:avLst>
          </a:prstGeom>
          <a:solidFill>
            <a:schemeClr val="accent3"/>
          </a:solidFill>
          <a:ln/>
        </p:spPr>
      </p:sp>
      <p:sp>
        <p:nvSpPr>
          <p:cNvPr id="4" name="L'inconstance cercle"/>
          <p:cNvSpPr/>
          <p:nvPr/>
        </p:nvSpPr>
        <p:spPr>
          <a:xfrm>
            <a:off x="1783080" y="1783080"/>
            <a:ext cx="1097280" cy="1097280"/>
          </a:xfrm>
          <a:prstGeom prst="ellipse">
            <a:avLst/>
          </a:prstGeom>
          <a:solidFill>
            <a:schemeClr val="accent2"/>
          </a:solidFill>
          <a:ln/>
        </p:spPr>
      </p:sp>
      <p:pic>
        <p:nvPicPr>
          <p:cNvPr id="5" name="L'inconstance icône" descr="L'inconstance">    </p:cNvPr>
          <p:cNvPicPr>
            <a:picLocks noChangeAspect="1"/>
          </p:cNvPicPr>
          <p:nvPr/>
        </p:nvPicPr>
        <p:blipFill>
          <a:blip r:embed="rId1"/>
          <a:stretch>
            <a:fillRect/>
          </a:stretch>
        </p:blipFill>
        <p:spPr>
          <a:xfrm>
            <a:off x="2068373" y="2068373"/>
            <a:ext cx="526694" cy="526694"/>
          </a:xfrm>
          <a:prstGeom prst="rect">
            <a:avLst/>
          </a:prstGeom>
        </p:spPr>
      </p:pic>
      <p:sp>
        <p:nvSpPr>
          <p:cNvPr id="6" name="Text 3"/>
          <p:cNvSpPr txBox="1"/>
          <p:nvPr/>
        </p:nvSpPr>
        <p:spPr>
          <a:xfrm>
            <a:off x="777240" y="2971800"/>
            <a:ext cx="3108960" cy="9144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L'inconstance</a:t>
            </a:r>
            <a:endParaRPr lang="en-US" sz="2600" dirty="0"/>
          </a:p>
        </p:txBody>
      </p:sp>
      <p:sp>
        <p:nvSpPr>
          <p:cNvPr id="7" name="Text 4"/>
          <p:cNvSpPr txBox="1"/>
          <p:nvPr/>
        </p:nvSpPr>
        <p:spPr>
          <a:xfrm>
            <a:off x="777240" y="3977640"/>
            <a:ext cx="3108960" cy="914400"/>
          </a:xfrm>
          <a:prstGeom prst="rect">
            <a:avLst/>
          </a:prstGeom>
          <a:noFill/>
          <a:ln/>
        </p:spPr>
        <p:txBody>
          <a:bodyPr wrap="square" lIns="0" tIns="0" rIns="0" bIns="0" rtlCol="0" anchor="t"/>
          <a:lstStyle/>
          <a:p>
            <a:pPr algn="ctr" indent="0" marL="0">
              <a:buNone/>
            </a:pPr>
            <a:r>
              <a:rPr lang="en-US" sz="2100" dirty="0">
                <a:solidFill>
                  <a:schemeClr val="bg1"/>
                </a:solidFill>
              </a:rPr>
              <a:t>Aujourd'hui motivé, demain résistant.</a:t>
            </a:r>
            <a:endParaRPr lang="en-US" sz="2100" dirty="0"/>
          </a:p>
        </p:txBody>
      </p:sp>
      <p:sp>
        <p:nvSpPr>
          <p:cNvPr id="8" name="Text 5"/>
          <p:cNvSpPr txBox="1"/>
          <p:nvPr/>
        </p:nvSpPr>
        <p:spPr>
          <a:xfrm>
            <a:off x="777240" y="4983480"/>
            <a:ext cx="3108960" cy="1005840"/>
          </a:xfrm>
          <a:prstGeom prst="rect">
            <a:avLst/>
          </a:prstGeom>
          <a:noFill/>
          <a:ln/>
        </p:spPr>
        <p:txBody>
          <a:bodyPr wrap="square" lIns="0" tIns="0" rIns="0" bIns="0" rtlCol="0" anchor="t"/>
          <a:lstStyle/>
          <a:p>
            <a:pPr algn="ctr" indent="0" marL="0">
              <a:buNone/>
            </a:pPr>
            <a:r>
              <a:rPr lang="en-US" sz="2100" b="1" dirty="0">
                <a:solidFill>
                  <a:schemeClr val="accent1"/>
                </a:solidFill>
              </a:rPr>
              <a:t>Remède : discipline et routine</a:t>
            </a:r>
            <a:endParaRPr lang="en-US" sz="2100" dirty="0"/>
          </a:p>
        </p:txBody>
      </p:sp>
      <p:sp>
        <p:nvSpPr>
          <p:cNvPr id="9" name="Carte La peur du rejet"/>
          <p:cNvSpPr/>
          <p:nvPr/>
        </p:nvSpPr>
        <p:spPr>
          <a:xfrm>
            <a:off x="4297680" y="1554480"/>
            <a:ext cx="3566160" cy="4572000"/>
          </a:xfrm>
          <a:prstGeom prst="roundRect">
            <a:avLst>
              <a:gd name="adj" fmla="val 3077"/>
            </a:avLst>
          </a:prstGeom>
          <a:solidFill>
            <a:schemeClr val="accent3"/>
          </a:solidFill>
          <a:ln/>
        </p:spPr>
      </p:sp>
      <p:sp>
        <p:nvSpPr>
          <p:cNvPr id="10" name="La peur du rejet cercle"/>
          <p:cNvSpPr/>
          <p:nvPr/>
        </p:nvSpPr>
        <p:spPr>
          <a:xfrm>
            <a:off x="5532120" y="1783080"/>
            <a:ext cx="1097280" cy="1097280"/>
          </a:xfrm>
          <a:prstGeom prst="ellipse">
            <a:avLst/>
          </a:prstGeom>
          <a:solidFill>
            <a:schemeClr val="accent2"/>
          </a:solidFill>
          <a:ln/>
        </p:spPr>
      </p:sp>
      <p:pic>
        <p:nvPicPr>
          <p:cNvPr id="11" name="La peur du rejet icône" descr="La peur du rejet">    </p:cNvPr>
          <p:cNvPicPr>
            <a:picLocks noChangeAspect="1"/>
          </p:cNvPicPr>
          <p:nvPr/>
        </p:nvPicPr>
        <p:blipFill>
          <a:blip r:embed="rId2"/>
          <a:stretch>
            <a:fillRect/>
          </a:stretch>
        </p:blipFill>
        <p:spPr>
          <a:xfrm>
            <a:off x="5817413" y="2068373"/>
            <a:ext cx="526694" cy="526694"/>
          </a:xfrm>
          <a:prstGeom prst="rect">
            <a:avLst/>
          </a:prstGeom>
        </p:spPr>
      </p:pic>
      <p:sp>
        <p:nvSpPr>
          <p:cNvPr id="12" name="Text 8"/>
          <p:cNvSpPr txBox="1"/>
          <p:nvPr/>
        </p:nvSpPr>
        <p:spPr>
          <a:xfrm>
            <a:off x="4526280" y="2971800"/>
            <a:ext cx="3108960" cy="9144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La peur du rejet</a:t>
            </a:r>
            <a:endParaRPr lang="en-US" sz="2600" dirty="0"/>
          </a:p>
        </p:txBody>
      </p:sp>
      <p:sp>
        <p:nvSpPr>
          <p:cNvPr id="13" name="Text 9"/>
          <p:cNvSpPr txBox="1"/>
          <p:nvPr/>
        </p:nvSpPr>
        <p:spPr>
          <a:xfrm>
            <a:off x="4526280" y="3977640"/>
            <a:ext cx="3108960" cy="914400"/>
          </a:xfrm>
          <a:prstGeom prst="rect">
            <a:avLst/>
          </a:prstGeom>
          <a:noFill/>
          <a:ln/>
        </p:spPr>
        <p:txBody>
          <a:bodyPr wrap="square" lIns="0" tIns="0" rIns="0" bIns="0" rtlCol="0" anchor="t"/>
          <a:lstStyle/>
          <a:p>
            <a:pPr algn="ctr" indent="0" marL="0">
              <a:buNone/>
            </a:pPr>
            <a:r>
              <a:rPr lang="en-US" sz="2100" dirty="0">
                <a:solidFill>
                  <a:schemeClr val="bg1"/>
                </a:solidFill>
              </a:rPr>
              <a:t>Un « non » n'est pas un échec personnel.</a:t>
            </a:r>
            <a:endParaRPr lang="en-US" sz="2100" dirty="0"/>
          </a:p>
        </p:txBody>
      </p:sp>
      <p:sp>
        <p:nvSpPr>
          <p:cNvPr id="14" name="Text 10"/>
          <p:cNvSpPr txBox="1"/>
          <p:nvPr/>
        </p:nvSpPr>
        <p:spPr>
          <a:xfrm>
            <a:off x="4526280" y="4983480"/>
            <a:ext cx="3108960" cy="1005840"/>
          </a:xfrm>
          <a:prstGeom prst="rect">
            <a:avLst/>
          </a:prstGeom>
          <a:noFill/>
          <a:ln/>
        </p:spPr>
        <p:txBody>
          <a:bodyPr wrap="square" lIns="0" tIns="0" rIns="0" bIns="0" rtlCol="0" anchor="t"/>
          <a:lstStyle/>
          <a:p>
            <a:pPr algn="ctr" indent="0" marL="0">
              <a:buNone/>
            </a:pPr>
            <a:r>
              <a:rPr lang="en-US" sz="2100" b="1" dirty="0">
                <a:solidFill>
                  <a:schemeClr val="accent1"/>
                </a:solidFill>
              </a:rPr>
              <a:t>Remède : chaque refus est un apprentissage</a:t>
            </a:r>
            <a:endParaRPr lang="en-US" sz="2100" dirty="0"/>
          </a:p>
        </p:txBody>
      </p:sp>
      <p:sp>
        <p:nvSpPr>
          <p:cNvPr id="15" name="Carte Le manque de formation"/>
          <p:cNvSpPr/>
          <p:nvPr/>
        </p:nvSpPr>
        <p:spPr>
          <a:xfrm>
            <a:off x="8046720" y="1554480"/>
            <a:ext cx="3566160" cy="4572000"/>
          </a:xfrm>
          <a:prstGeom prst="roundRect">
            <a:avLst>
              <a:gd name="adj" fmla="val 3077"/>
            </a:avLst>
          </a:prstGeom>
          <a:solidFill>
            <a:schemeClr val="accent3"/>
          </a:solidFill>
          <a:ln/>
        </p:spPr>
      </p:sp>
      <p:sp>
        <p:nvSpPr>
          <p:cNvPr id="16" name="Le manque de formation cercle"/>
          <p:cNvSpPr/>
          <p:nvPr/>
        </p:nvSpPr>
        <p:spPr>
          <a:xfrm>
            <a:off x="9281160" y="1783080"/>
            <a:ext cx="1097280" cy="1097280"/>
          </a:xfrm>
          <a:prstGeom prst="ellipse">
            <a:avLst/>
          </a:prstGeom>
          <a:solidFill>
            <a:schemeClr val="accent2"/>
          </a:solidFill>
          <a:ln/>
        </p:spPr>
      </p:sp>
      <p:pic>
        <p:nvPicPr>
          <p:cNvPr id="17" name="Le manque de formation icône" descr="Le manque de formation">    </p:cNvPr>
          <p:cNvPicPr>
            <a:picLocks noChangeAspect="1"/>
          </p:cNvPicPr>
          <p:nvPr/>
        </p:nvPicPr>
        <p:blipFill>
          <a:blip r:embed="rId3"/>
          <a:stretch>
            <a:fillRect/>
          </a:stretch>
        </p:blipFill>
        <p:spPr>
          <a:xfrm>
            <a:off x="9566453" y="2068373"/>
            <a:ext cx="526694" cy="526694"/>
          </a:xfrm>
          <a:prstGeom prst="rect">
            <a:avLst/>
          </a:prstGeom>
        </p:spPr>
      </p:pic>
      <p:sp>
        <p:nvSpPr>
          <p:cNvPr id="18" name="Text 13"/>
          <p:cNvSpPr txBox="1"/>
          <p:nvPr/>
        </p:nvSpPr>
        <p:spPr>
          <a:xfrm>
            <a:off x="8275320" y="2971800"/>
            <a:ext cx="3108960" cy="9144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Le manque de formation</a:t>
            </a:r>
            <a:endParaRPr lang="en-US" sz="2600" dirty="0"/>
          </a:p>
        </p:txBody>
      </p:sp>
      <p:sp>
        <p:nvSpPr>
          <p:cNvPr id="19" name="Text 14"/>
          <p:cNvSpPr txBox="1"/>
          <p:nvPr/>
        </p:nvSpPr>
        <p:spPr>
          <a:xfrm>
            <a:off x="8275320" y="3977640"/>
            <a:ext cx="3108960" cy="914400"/>
          </a:xfrm>
          <a:prstGeom prst="rect">
            <a:avLst/>
          </a:prstGeom>
          <a:noFill/>
          <a:ln/>
        </p:spPr>
        <p:txBody>
          <a:bodyPr wrap="square" lIns="0" tIns="0" rIns="0" bIns="0" rtlCol="0" anchor="t"/>
          <a:lstStyle/>
          <a:p>
            <a:pPr algn="ctr" indent="0" marL="0">
              <a:buNone/>
            </a:pPr>
            <a:r>
              <a:rPr lang="en-US" sz="2100" dirty="0">
                <a:solidFill>
                  <a:schemeClr val="bg1"/>
                </a:solidFill>
              </a:rPr>
              <a:t>On ne transmet bien que ce que l'on maîtrise.</a:t>
            </a:r>
            <a:endParaRPr lang="en-US" sz="2100" dirty="0"/>
          </a:p>
        </p:txBody>
      </p:sp>
      <p:sp>
        <p:nvSpPr>
          <p:cNvPr id="20" name="Text 15"/>
          <p:cNvSpPr txBox="1"/>
          <p:nvPr/>
        </p:nvSpPr>
        <p:spPr>
          <a:xfrm>
            <a:off x="8275320" y="4983480"/>
            <a:ext cx="3108960" cy="1005840"/>
          </a:xfrm>
          <a:prstGeom prst="rect">
            <a:avLst/>
          </a:prstGeom>
          <a:noFill/>
          <a:ln/>
        </p:spPr>
        <p:txBody>
          <a:bodyPr wrap="square" lIns="0" tIns="0" rIns="0" bIns="0" rtlCol="0" anchor="t"/>
          <a:lstStyle/>
          <a:p>
            <a:pPr algn="ctr" indent="0" marL="0">
              <a:buNone/>
            </a:pPr>
            <a:r>
              <a:rPr lang="en-US" sz="2100" b="1" dirty="0">
                <a:solidFill>
                  <a:schemeClr val="accent1"/>
                </a:solidFill>
              </a:rPr>
              <a:t>Remède : se former et se faire accompagner</a:t>
            </a:r>
            <a:endParaRPr lang="en-US" sz="21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En résumé</a:t>
            </a:r>
            <a:endParaRPr lang="en-US" sz="3600" dirty="0"/>
          </a:p>
        </p:txBody>
      </p:sp>
      <p:sp>
        <p:nvSpPr>
          <p:cNvPr id="3" name="Cercle Réseau"/>
          <p:cNvSpPr/>
          <p:nvPr/>
        </p:nvSpPr>
        <p:spPr>
          <a:xfrm>
            <a:off x="685800" y="1554480"/>
            <a:ext cx="1463040" cy="1463040"/>
          </a:xfrm>
          <a:prstGeom prst="ellipse">
            <a:avLst/>
          </a:prstGeom>
          <a:solidFill>
            <a:schemeClr val="accent3"/>
          </a:solidFill>
          <a:ln/>
        </p:spPr>
      </p:sp>
      <p:pic>
        <p:nvPicPr>
          <p:cNvPr id="4" name="Icône Réseau" descr="Réseau">    </p:cNvPr>
          <p:cNvPicPr>
            <a:picLocks noChangeAspect="1"/>
          </p:cNvPicPr>
          <p:nvPr/>
        </p:nvPicPr>
        <p:blipFill>
          <a:blip r:embed="rId1"/>
          <a:stretch>
            <a:fillRect/>
          </a:stretch>
        </p:blipFill>
        <p:spPr>
          <a:xfrm>
            <a:off x="1051560" y="1920240"/>
            <a:ext cx="731520" cy="731520"/>
          </a:xfrm>
          <a:prstGeom prst="rect">
            <a:avLst/>
          </a:prstGeom>
        </p:spPr>
      </p:pic>
      <p:sp>
        <p:nvSpPr>
          <p:cNvPr id="5" name="Text 2"/>
          <p:cNvSpPr txBox="1"/>
          <p:nvPr/>
        </p:nvSpPr>
        <p:spPr>
          <a:xfrm>
            <a:off x="411480" y="3154680"/>
            <a:ext cx="2011680" cy="502920"/>
          </a:xfrm>
          <a:prstGeom prst="rect">
            <a:avLst/>
          </a:prstGeom>
          <a:noFill/>
          <a:ln/>
        </p:spPr>
        <p:txBody>
          <a:bodyPr wrap="square" lIns="0" tIns="0" rIns="0" bIns="0" rtlCol="0" anchor="t"/>
          <a:lstStyle/>
          <a:p>
            <a:pPr algn="ctr" indent="0" marL="0">
              <a:buNone/>
            </a:pPr>
            <a:r>
              <a:rPr lang="en-US" sz="2000" b="1" dirty="0">
                <a:solidFill>
                  <a:schemeClr val="bg1"/>
                </a:solidFill>
              </a:rPr>
              <a:t>Réseau</a:t>
            </a:r>
            <a:endParaRPr lang="en-US" sz="2000" dirty="0"/>
          </a:p>
        </p:txBody>
      </p:sp>
      <p:sp>
        <p:nvSpPr>
          <p:cNvPr id="6" name="Text 3"/>
          <p:cNvSpPr txBox="1"/>
          <p:nvPr/>
        </p:nvSpPr>
        <p:spPr>
          <a:xfrm>
            <a:off x="2194560" y="1920240"/>
            <a:ext cx="365760" cy="731520"/>
          </a:xfrm>
          <a:prstGeom prst="rect">
            <a:avLst/>
          </a:prstGeom>
          <a:noFill/>
          <a:ln/>
        </p:spPr>
        <p:txBody>
          <a:bodyPr wrap="square" lIns="0" tIns="0" rIns="0" bIns="0" rtlCol="0" anchor="ctr"/>
          <a:lstStyle/>
          <a:p>
            <a:pPr algn="ctr" indent="0" marL="0">
              <a:buNone/>
            </a:pPr>
            <a:r>
              <a:rPr lang="en-US" sz="3600" b="1" dirty="0">
                <a:solidFill>
                  <a:schemeClr val="accent1"/>
                </a:solidFill>
              </a:rPr>
              <a:t>+</a:t>
            </a:r>
            <a:endParaRPr lang="en-US" sz="3600" dirty="0"/>
          </a:p>
        </p:txBody>
      </p:sp>
      <p:sp>
        <p:nvSpPr>
          <p:cNvPr id="7" name="Cercle Duplication"/>
          <p:cNvSpPr/>
          <p:nvPr/>
        </p:nvSpPr>
        <p:spPr>
          <a:xfrm>
            <a:off x="2697480" y="1554480"/>
            <a:ext cx="1463040" cy="1463040"/>
          </a:xfrm>
          <a:prstGeom prst="ellipse">
            <a:avLst/>
          </a:prstGeom>
          <a:solidFill>
            <a:schemeClr val="accent3"/>
          </a:solidFill>
          <a:ln/>
        </p:spPr>
      </p:sp>
      <p:pic>
        <p:nvPicPr>
          <p:cNvPr id="8" name="Icône Duplication" descr="Duplication">    </p:cNvPr>
          <p:cNvPicPr>
            <a:picLocks noChangeAspect="1"/>
          </p:cNvPicPr>
          <p:nvPr/>
        </p:nvPicPr>
        <p:blipFill>
          <a:blip r:embed="rId2"/>
          <a:stretch>
            <a:fillRect/>
          </a:stretch>
        </p:blipFill>
        <p:spPr>
          <a:xfrm>
            <a:off x="3063240" y="1920240"/>
            <a:ext cx="731520" cy="731520"/>
          </a:xfrm>
          <a:prstGeom prst="rect">
            <a:avLst/>
          </a:prstGeom>
        </p:spPr>
      </p:pic>
      <p:sp>
        <p:nvSpPr>
          <p:cNvPr id="9" name="Text 5"/>
          <p:cNvSpPr txBox="1"/>
          <p:nvPr/>
        </p:nvSpPr>
        <p:spPr>
          <a:xfrm>
            <a:off x="2423160" y="3154680"/>
            <a:ext cx="2011680" cy="502920"/>
          </a:xfrm>
          <a:prstGeom prst="rect">
            <a:avLst/>
          </a:prstGeom>
          <a:noFill/>
          <a:ln/>
        </p:spPr>
        <p:txBody>
          <a:bodyPr wrap="square" lIns="0" tIns="0" rIns="0" bIns="0" rtlCol="0" anchor="t"/>
          <a:lstStyle/>
          <a:p>
            <a:pPr algn="ctr" indent="0" marL="0">
              <a:buNone/>
            </a:pPr>
            <a:r>
              <a:rPr lang="en-US" sz="2000" b="1" dirty="0">
                <a:solidFill>
                  <a:schemeClr val="bg1"/>
                </a:solidFill>
              </a:rPr>
              <a:t>Duplication</a:t>
            </a:r>
            <a:endParaRPr lang="en-US" sz="2000" dirty="0"/>
          </a:p>
        </p:txBody>
      </p:sp>
      <p:sp>
        <p:nvSpPr>
          <p:cNvPr id="10" name="Text 6"/>
          <p:cNvSpPr txBox="1"/>
          <p:nvPr/>
        </p:nvSpPr>
        <p:spPr>
          <a:xfrm>
            <a:off x="4206240" y="1920240"/>
            <a:ext cx="365760" cy="731520"/>
          </a:xfrm>
          <a:prstGeom prst="rect">
            <a:avLst/>
          </a:prstGeom>
          <a:noFill/>
          <a:ln/>
        </p:spPr>
        <p:txBody>
          <a:bodyPr wrap="square" lIns="0" tIns="0" rIns="0" bIns="0" rtlCol="0" anchor="ctr"/>
          <a:lstStyle/>
          <a:p>
            <a:pPr algn="ctr" indent="0" marL="0">
              <a:buNone/>
            </a:pPr>
            <a:r>
              <a:rPr lang="en-US" sz="3600" b="1" dirty="0">
                <a:solidFill>
                  <a:schemeClr val="accent1"/>
                </a:solidFill>
              </a:rPr>
              <a:t>+</a:t>
            </a:r>
            <a:endParaRPr lang="en-US" sz="3600" dirty="0"/>
          </a:p>
        </p:txBody>
      </p:sp>
      <p:sp>
        <p:nvSpPr>
          <p:cNvPr id="11" name="Cercle Équipe"/>
          <p:cNvSpPr/>
          <p:nvPr/>
        </p:nvSpPr>
        <p:spPr>
          <a:xfrm>
            <a:off x="4709160" y="1554480"/>
            <a:ext cx="1463040" cy="1463040"/>
          </a:xfrm>
          <a:prstGeom prst="ellipse">
            <a:avLst/>
          </a:prstGeom>
          <a:solidFill>
            <a:schemeClr val="accent3"/>
          </a:solidFill>
          <a:ln/>
        </p:spPr>
      </p:sp>
      <p:pic>
        <p:nvPicPr>
          <p:cNvPr id="12" name="Icône Équipe" descr="Équipe">    </p:cNvPr>
          <p:cNvPicPr>
            <a:picLocks noChangeAspect="1"/>
          </p:cNvPicPr>
          <p:nvPr/>
        </p:nvPicPr>
        <p:blipFill>
          <a:blip r:embed="rId3"/>
          <a:stretch>
            <a:fillRect/>
          </a:stretch>
        </p:blipFill>
        <p:spPr>
          <a:xfrm>
            <a:off x="5074920" y="1920240"/>
            <a:ext cx="731520" cy="731520"/>
          </a:xfrm>
          <a:prstGeom prst="rect">
            <a:avLst/>
          </a:prstGeom>
        </p:spPr>
      </p:pic>
      <p:sp>
        <p:nvSpPr>
          <p:cNvPr id="13" name="Text 8"/>
          <p:cNvSpPr txBox="1"/>
          <p:nvPr/>
        </p:nvSpPr>
        <p:spPr>
          <a:xfrm>
            <a:off x="4434840" y="3154680"/>
            <a:ext cx="2011680" cy="502920"/>
          </a:xfrm>
          <a:prstGeom prst="rect">
            <a:avLst/>
          </a:prstGeom>
          <a:noFill/>
          <a:ln/>
        </p:spPr>
        <p:txBody>
          <a:bodyPr wrap="square" lIns="0" tIns="0" rIns="0" bIns="0" rtlCol="0" anchor="t"/>
          <a:lstStyle/>
          <a:p>
            <a:pPr algn="ctr" indent="0" marL="0">
              <a:buNone/>
            </a:pPr>
            <a:r>
              <a:rPr lang="en-US" sz="2000" b="1" dirty="0">
                <a:solidFill>
                  <a:schemeClr val="bg1"/>
                </a:solidFill>
              </a:rPr>
              <a:t>Équipe</a:t>
            </a:r>
            <a:endParaRPr lang="en-US" sz="2000" dirty="0"/>
          </a:p>
        </p:txBody>
      </p:sp>
      <p:sp>
        <p:nvSpPr>
          <p:cNvPr id="14" name="Text 9"/>
          <p:cNvSpPr txBox="1"/>
          <p:nvPr/>
        </p:nvSpPr>
        <p:spPr>
          <a:xfrm>
            <a:off x="6217920" y="1920240"/>
            <a:ext cx="365760" cy="731520"/>
          </a:xfrm>
          <a:prstGeom prst="rect">
            <a:avLst/>
          </a:prstGeom>
          <a:noFill/>
          <a:ln/>
        </p:spPr>
        <p:txBody>
          <a:bodyPr wrap="square" lIns="0" tIns="0" rIns="0" bIns="0" rtlCol="0" anchor="ctr"/>
          <a:lstStyle/>
          <a:p>
            <a:pPr algn="ctr" indent="0" marL="0">
              <a:buNone/>
            </a:pPr>
            <a:r>
              <a:rPr lang="en-US" sz="3600" b="1" dirty="0">
                <a:solidFill>
                  <a:schemeClr val="accent1"/>
                </a:solidFill>
              </a:rPr>
              <a:t>+</a:t>
            </a:r>
            <a:endParaRPr lang="en-US" sz="3600" dirty="0"/>
          </a:p>
        </p:txBody>
      </p:sp>
      <p:sp>
        <p:nvSpPr>
          <p:cNvPr id="15" name="Cercle Développement"/>
          <p:cNvSpPr/>
          <p:nvPr/>
        </p:nvSpPr>
        <p:spPr>
          <a:xfrm>
            <a:off x="6720840" y="1554480"/>
            <a:ext cx="1463040" cy="1463040"/>
          </a:xfrm>
          <a:prstGeom prst="ellipse">
            <a:avLst/>
          </a:prstGeom>
          <a:solidFill>
            <a:schemeClr val="accent3"/>
          </a:solidFill>
          <a:ln/>
        </p:spPr>
      </p:sp>
      <p:pic>
        <p:nvPicPr>
          <p:cNvPr id="16" name="Icône Développement" descr="Développement">    </p:cNvPr>
          <p:cNvPicPr>
            <a:picLocks noChangeAspect="1"/>
          </p:cNvPicPr>
          <p:nvPr/>
        </p:nvPicPr>
        <p:blipFill>
          <a:blip r:embed="rId4"/>
          <a:stretch>
            <a:fillRect/>
          </a:stretch>
        </p:blipFill>
        <p:spPr>
          <a:xfrm>
            <a:off x="7086600" y="1920240"/>
            <a:ext cx="731520" cy="731520"/>
          </a:xfrm>
          <a:prstGeom prst="rect">
            <a:avLst/>
          </a:prstGeom>
        </p:spPr>
      </p:pic>
      <p:sp>
        <p:nvSpPr>
          <p:cNvPr id="17" name="Text 11"/>
          <p:cNvSpPr txBox="1"/>
          <p:nvPr/>
        </p:nvSpPr>
        <p:spPr>
          <a:xfrm>
            <a:off x="6446520" y="3154680"/>
            <a:ext cx="2011680" cy="502920"/>
          </a:xfrm>
          <a:prstGeom prst="rect">
            <a:avLst/>
          </a:prstGeom>
          <a:noFill/>
          <a:ln/>
        </p:spPr>
        <p:txBody>
          <a:bodyPr wrap="square" lIns="0" tIns="0" rIns="0" bIns="0" rtlCol="0" anchor="t"/>
          <a:lstStyle/>
          <a:p>
            <a:pPr algn="ctr" indent="0" marL="0">
              <a:buNone/>
            </a:pPr>
            <a:r>
              <a:rPr lang="en-US" sz="2000" b="1" dirty="0">
                <a:solidFill>
                  <a:schemeClr val="bg1"/>
                </a:solidFill>
              </a:rPr>
              <a:t>Développement</a:t>
            </a:r>
            <a:endParaRPr lang="en-US" sz="2000" dirty="0"/>
          </a:p>
        </p:txBody>
      </p:sp>
      <p:sp>
        <p:nvSpPr>
          <p:cNvPr id="18" name="Text 12"/>
          <p:cNvSpPr txBox="1"/>
          <p:nvPr/>
        </p:nvSpPr>
        <p:spPr>
          <a:xfrm>
            <a:off x="8229600" y="1920240"/>
            <a:ext cx="365760" cy="731520"/>
          </a:xfrm>
          <a:prstGeom prst="rect">
            <a:avLst/>
          </a:prstGeom>
          <a:noFill/>
          <a:ln/>
        </p:spPr>
        <p:txBody>
          <a:bodyPr wrap="square" lIns="0" tIns="0" rIns="0" bIns="0" rtlCol="0" anchor="ctr"/>
          <a:lstStyle/>
          <a:p>
            <a:pPr algn="ctr" indent="0" marL="0">
              <a:buNone/>
            </a:pPr>
            <a:r>
              <a:rPr lang="en-US" sz="3600" b="1" dirty="0">
                <a:solidFill>
                  <a:schemeClr val="accent1"/>
                </a:solidFill>
              </a:rPr>
              <a:t>+</a:t>
            </a:r>
            <a:endParaRPr lang="en-US" sz="3600" dirty="0"/>
          </a:p>
        </p:txBody>
      </p:sp>
      <p:sp>
        <p:nvSpPr>
          <p:cNvPr id="19" name="Cercle Constance"/>
          <p:cNvSpPr/>
          <p:nvPr/>
        </p:nvSpPr>
        <p:spPr>
          <a:xfrm>
            <a:off x="8732520" y="1554480"/>
            <a:ext cx="1463040" cy="1463040"/>
          </a:xfrm>
          <a:prstGeom prst="ellipse">
            <a:avLst/>
          </a:prstGeom>
          <a:solidFill>
            <a:schemeClr val="accent3"/>
          </a:solidFill>
          <a:ln/>
        </p:spPr>
      </p:sp>
      <p:pic>
        <p:nvPicPr>
          <p:cNvPr id="20" name="Icône Constance" descr="Constance">    </p:cNvPr>
          <p:cNvPicPr>
            <a:picLocks noChangeAspect="1"/>
          </p:cNvPicPr>
          <p:nvPr/>
        </p:nvPicPr>
        <p:blipFill>
          <a:blip r:embed="rId5"/>
          <a:stretch>
            <a:fillRect/>
          </a:stretch>
        </p:blipFill>
        <p:spPr>
          <a:xfrm>
            <a:off x="9098280" y="1920240"/>
            <a:ext cx="731520" cy="731520"/>
          </a:xfrm>
          <a:prstGeom prst="rect">
            <a:avLst/>
          </a:prstGeom>
        </p:spPr>
      </p:pic>
      <p:sp>
        <p:nvSpPr>
          <p:cNvPr id="21" name="Text 14"/>
          <p:cNvSpPr txBox="1"/>
          <p:nvPr/>
        </p:nvSpPr>
        <p:spPr>
          <a:xfrm>
            <a:off x="8458200" y="3154680"/>
            <a:ext cx="2011680" cy="502920"/>
          </a:xfrm>
          <a:prstGeom prst="rect">
            <a:avLst/>
          </a:prstGeom>
          <a:noFill/>
          <a:ln/>
        </p:spPr>
        <p:txBody>
          <a:bodyPr wrap="square" lIns="0" tIns="0" rIns="0" bIns="0" rtlCol="0" anchor="t"/>
          <a:lstStyle/>
          <a:p>
            <a:pPr algn="ctr" indent="0" marL="0">
              <a:buNone/>
            </a:pPr>
            <a:r>
              <a:rPr lang="en-US" sz="2000" b="1" dirty="0">
                <a:solidFill>
                  <a:schemeClr val="bg1"/>
                </a:solidFill>
              </a:rPr>
              <a:t>Constance</a:t>
            </a:r>
            <a:endParaRPr lang="en-US" sz="2000" dirty="0"/>
          </a:p>
        </p:txBody>
      </p:sp>
      <p:sp>
        <p:nvSpPr>
          <p:cNvPr id="22" name="Text 15"/>
          <p:cNvSpPr txBox="1"/>
          <p:nvPr/>
        </p:nvSpPr>
        <p:spPr>
          <a:xfrm>
            <a:off x="10241280" y="1920240"/>
            <a:ext cx="365760" cy="731520"/>
          </a:xfrm>
          <a:prstGeom prst="rect">
            <a:avLst/>
          </a:prstGeom>
          <a:noFill/>
          <a:ln/>
        </p:spPr>
        <p:txBody>
          <a:bodyPr wrap="square" lIns="0" tIns="0" rIns="0" bIns="0" rtlCol="0" anchor="ctr"/>
          <a:lstStyle/>
          <a:p>
            <a:pPr algn="ctr" indent="0" marL="0">
              <a:buNone/>
            </a:pPr>
            <a:r>
              <a:rPr lang="en-US" sz="3600" b="1" dirty="0">
                <a:solidFill>
                  <a:schemeClr val="accent1"/>
                </a:solidFill>
              </a:rPr>
              <a:t>=</a:t>
            </a:r>
            <a:endParaRPr lang="en-US" sz="3600" dirty="0"/>
          </a:p>
        </p:txBody>
      </p:sp>
      <p:sp>
        <p:nvSpPr>
          <p:cNvPr id="23" name="Cercle Puissance"/>
          <p:cNvSpPr/>
          <p:nvPr/>
        </p:nvSpPr>
        <p:spPr>
          <a:xfrm>
            <a:off x="10607040" y="1554480"/>
            <a:ext cx="1463040" cy="1463040"/>
          </a:xfrm>
          <a:prstGeom prst="ellipse">
            <a:avLst/>
          </a:prstGeom>
          <a:solidFill>
            <a:schemeClr val="accent1"/>
          </a:solidFill>
          <a:ln/>
        </p:spPr>
      </p:sp>
      <p:pic>
        <p:nvPicPr>
          <p:cNvPr id="24" name="Icône Puissance" descr="Puissance">    </p:cNvPr>
          <p:cNvPicPr>
            <a:picLocks noChangeAspect="1"/>
          </p:cNvPicPr>
          <p:nvPr/>
        </p:nvPicPr>
        <p:blipFill>
          <a:blip r:embed="rId6"/>
          <a:stretch>
            <a:fillRect/>
          </a:stretch>
        </p:blipFill>
        <p:spPr>
          <a:xfrm>
            <a:off x="10972800" y="1920240"/>
            <a:ext cx="731520" cy="731520"/>
          </a:xfrm>
          <a:prstGeom prst="rect">
            <a:avLst/>
          </a:prstGeom>
        </p:spPr>
      </p:pic>
      <p:sp>
        <p:nvSpPr>
          <p:cNvPr id="25" name="Text 17"/>
          <p:cNvSpPr txBox="1"/>
          <p:nvPr/>
        </p:nvSpPr>
        <p:spPr>
          <a:xfrm>
            <a:off x="10332720" y="3154680"/>
            <a:ext cx="1828800" cy="502920"/>
          </a:xfrm>
          <a:prstGeom prst="rect">
            <a:avLst/>
          </a:prstGeom>
          <a:noFill/>
          <a:ln/>
        </p:spPr>
        <p:txBody>
          <a:bodyPr wrap="square" lIns="0" tIns="0" rIns="0" bIns="0" rtlCol="0" anchor="t"/>
          <a:lstStyle/>
          <a:p>
            <a:pPr algn="ctr" indent="0" marL="0">
              <a:buNone/>
            </a:pPr>
            <a:r>
              <a:rPr lang="en-US" sz="2000" b="1" dirty="0">
                <a:solidFill>
                  <a:schemeClr val="accent1"/>
                </a:solidFill>
              </a:rPr>
              <a:t>Puissance</a:t>
            </a:r>
            <a:endParaRPr lang="en-US" sz="2000" dirty="0"/>
          </a:p>
        </p:txBody>
      </p:sp>
      <p:sp>
        <p:nvSpPr>
          <p:cNvPr id="26" name="Text 18"/>
          <p:cNvSpPr txBox="1"/>
          <p:nvPr/>
        </p:nvSpPr>
        <p:spPr>
          <a:xfrm>
            <a:off x="548640" y="4114800"/>
            <a:ext cx="11064240" cy="1463040"/>
          </a:xfrm>
          <a:prstGeom prst="rect">
            <a:avLst/>
          </a:prstGeom>
          <a:noFill/>
          <a:ln/>
        </p:spPr>
        <p:txBody>
          <a:bodyPr wrap="square" lIns="0" tIns="0" rIns="0" bIns="0" rtlCol="0" anchor="ctr"/>
          <a:lstStyle/>
          <a:p>
            <a:pPr algn="ctr" indent="0" marL="0">
              <a:buNone/>
            </a:pPr>
            <a:r>
              <a:rPr lang="en-US" sz="2800" i="1" dirty="0">
                <a:solidFill>
                  <a:schemeClr val="bg1"/>
                </a:solidFill>
                <a:latin typeface="Cambria" pitchFamily="34" charset="0"/>
                <a:ea typeface="Cambria" pitchFamily="34" charset="-122"/>
                <a:cs typeface="Cambria" pitchFamily="34" charset="-120"/>
              </a:rPr>
              <a:t>Avec de bons produits, de l'honnêteté et de la patience, le marketing de réseau devient une école d'entrepreneuriat, et l'Afrique en est la prochaine grande frontière.</a:t>
            </a:r>
            <a:endParaRPr lang="en-US" sz="2800" dirty="0"/>
          </a:p>
        </p:txBody>
      </p:sp>
      <p:sp>
        <p:nvSpPr>
          <p:cNvPr id="27" name="Text 19"/>
          <p:cNvSpPr txBox="1"/>
          <p:nvPr/>
        </p:nvSpPr>
        <p:spPr>
          <a:xfrm>
            <a:off x="548640" y="5577840"/>
            <a:ext cx="10424160" cy="640080"/>
          </a:xfrm>
          <a:prstGeom prst="rect">
            <a:avLst/>
          </a:prstGeom>
          <a:noFill/>
          <a:ln/>
        </p:spPr>
        <p:txBody>
          <a:bodyPr wrap="square" lIns="0" tIns="0" rIns="0" bIns="0" rtlCol="0" anchor="t"/>
          <a:lstStyle/>
          <a:p>
            <a:pPr algn="ctr" indent="0" marL="0">
              <a:buNone/>
            </a:pPr>
            <a:r>
              <a:rPr lang="en-US" sz="3200" b="1" dirty="0">
                <a:solidFill>
                  <a:schemeClr val="accent1"/>
                </a:solidFill>
              </a:rPr>
              <a:t>Merci !</a:t>
            </a:r>
            <a:endParaRPr lang="en-US" sz="32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Sources</a:t>
            </a:r>
            <a:endParaRPr lang="en-US" sz="3600" dirty="0"/>
          </a:p>
        </p:txBody>
      </p:sp>
      <p:sp>
        <p:nvSpPr>
          <p:cNvPr id="3" name="Sources cercle"/>
          <p:cNvSpPr/>
          <p:nvPr/>
        </p:nvSpPr>
        <p:spPr>
          <a:xfrm>
            <a:off x="548640" y="1554480"/>
            <a:ext cx="1097280" cy="1097280"/>
          </a:xfrm>
          <a:prstGeom prst="ellipse">
            <a:avLst/>
          </a:prstGeom>
          <a:solidFill>
            <a:schemeClr val="accent1"/>
          </a:solidFill>
          <a:ln/>
        </p:spPr>
      </p:sp>
      <p:pic>
        <p:nvPicPr>
          <p:cNvPr id="4" name="Sources icône" descr="Sources">    </p:cNvPr>
          <p:cNvPicPr>
            <a:picLocks noChangeAspect="1"/>
          </p:cNvPicPr>
          <p:nvPr/>
        </p:nvPicPr>
        <p:blipFill>
          <a:blip r:embed="rId1"/>
          <a:stretch>
            <a:fillRect/>
          </a:stretch>
        </p:blipFill>
        <p:spPr>
          <a:xfrm>
            <a:off x="833933" y="1839773"/>
            <a:ext cx="526694" cy="526694"/>
          </a:xfrm>
          <a:prstGeom prst="rect">
            <a:avLst/>
          </a:prstGeom>
        </p:spPr>
      </p:pic>
      <p:sp>
        <p:nvSpPr>
          <p:cNvPr id="5" name="Text 2"/>
          <p:cNvSpPr txBox="1"/>
          <p:nvPr/>
        </p:nvSpPr>
        <p:spPr>
          <a:xfrm>
            <a:off x="2011680" y="1554480"/>
            <a:ext cx="9601200" cy="3840480"/>
          </a:xfrm>
          <a:prstGeom prst="rect">
            <a:avLst/>
          </a:prstGeom>
          <a:noFill/>
          <a:ln/>
        </p:spPr>
        <p:txBody>
          <a:bodyPr wrap="square" lIns="0" tIns="0" rIns="0" bIns="0" rtlCol="0" anchor="t"/>
          <a:lstStyle/>
          <a:p>
            <a:pPr marL="342900" indent="-342900">
              <a:spcAft>
                <a:spcPts val="800"/>
              </a:spcAft>
              <a:buSzPct val="100000"/>
              <a:buChar char="•"/>
            </a:pPr>
            <a:r>
              <a:rPr lang="en-US" sz="2200" dirty="0">
                <a:solidFill>
                  <a:schemeClr val="tx1"/>
                </a:solidFill>
              </a:rPr>
              <a:t>WFDSA : Global Direct Selling Report (ventes, vendeurs, répartition par région)</a:t>
            </a:r>
            <a:endParaRPr lang="en-US" sz="2200" dirty="0"/>
          </a:p>
          <a:p>
            <a:pPr marL="342900" indent="-342900">
              <a:spcAft>
                <a:spcPts val="800"/>
              </a:spcAft>
              <a:buSzPct val="100000"/>
              <a:buChar char="•"/>
            </a:pPr>
            <a:r>
              <a:rPr lang="en-US" sz="2200" dirty="0">
                <a:solidFill>
                  <a:schemeClr val="tx1"/>
                </a:solidFill>
              </a:rPr>
              <a:t>Direct Selling Association (États-Unis) : chiffres du marché américain</a:t>
            </a:r>
            <a:endParaRPr lang="en-US" sz="2200" dirty="0"/>
          </a:p>
          <a:p>
            <a:pPr marL="342900" indent="-342900">
              <a:spcAft>
                <a:spcPts val="800"/>
              </a:spcAft>
              <a:buSzPct val="100000"/>
              <a:buChar char="•"/>
            </a:pPr>
            <a:r>
              <a:rPr lang="en-US" sz="2200" dirty="0">
                <a:solidFill>
                  <a:schemeClr val="tx1"/>
                </a:solidFill>
              </a:rPr>
              <a:t>Nations Unies : World Population Prospects 2024</a:t>
            </a:r>
            <a:endParaRPr lang="en-US" sz="2200" dirty="0"/>
          </a:p>
          <a:p>
            <a:pPr marL="342900" indent="-342900">
              <a:spcAft>
                <a:spcPts val="800"/>
              </a:spcAft>
              <a:buSzPct val="100000"/>
              <a:buChar char="•"/>
            </a:pPr>
            <a:r>
              <a:rPr lang="en-US" sz="2200" dirty="0">
                <a:solidFill>
                  <a:schemeClr val="tx1"/>
                </a:solidFill>
              </a:rPr>
              <a:t>GSMA : State of the Industry Report on Mobile Money</a:t>
            </a:r>
            <a:endParaRPr lang="en-US" sz="2200" dirty="0"/>
          </a:p>
          <a:p>
            <a:pPr marL="342900" indent="-342900">
              <a:spcAft>
                <a:spcPts val="800"/>
              </a:spcAft>
              <a:buSzPct val="100000"/>
              <a:buChar char="•"/>
            </a:pPr>
            <a:r>
              <a:rPr lang="en-US" sz="2200" dirty="0">
                <a:solidFill>
                  <a:schemeClr val="tx1"/>
                </a:solidFill>
              </a:rPr>
              <a:t>OIT : Femmes et hommes dans l'économie informelle</a:t>
            </a:r>
            <a:endParaRPr lang="en-US" sz="2200" dirty="0"/>
          </a:p>
          <a:p>
            <a:pPr marL="342900" indent="-342900">
              <a:spcAft>
                <a:spcPts val="800"/>
              </a:spcAft>
              <a:buSzPct val="100000"/>
              <a:buChar char="•"/>
            </a:pPr>
            <a:r>
              <a:rPr lang="en-US" sz="2200" dirty="0">
                <a:solidFill>
                  <a:schemeClr val="tx1"/>
                </a:solidFill>
              </a:rPr>
              <a:t>Secrétariat de la ZLECAf ; Global Entrepreneurship Monitor</a:t>
            </a:r>
            <a:endParaRPr lang="en-US" sz="2200" dirty="0"/>
          </a:p>
        </p:txBody>
      </p:sp>
      <p:sp>
        <p:nvSpPr>
          <p:cNvPr id="6" name="Text 3"/>
          <p:cNvSpPr txBox="1"/>
          <p:nvPr/>
        </p:nvSpPr>
        <p:spPr>
          <a:xfrm>
            <a:off x="2011680" y="5486400"/>
            <a:ext cx="9601200" cy="777240"/>
          </a:xfrm>
          <a:prstGeom prst="rect">
            <a:avLst/>
          </a:prstGeom>
          <a:noFill/>
          <a:ln/>
        </p:spPr>
        <p:txBody>
          <a:bodyPr wrap="square" lIns="0" tIns="0" rIns="0" bIns="0" rtlCol="0" anchor="t"/>
          <a:lstStyle/>
          <a:p>
            <a:pPr indent="0" marL="0">
              <a:buNone/>
            </a:pPr>
            <a:r>
              <a:rPr lang="en-US" sz="2000" i="1" dirty="0">
                <a:solidFill>
                  <a:schemeClr val="accent6"/>
                </a:solidFill>
              </a:rPr>
              <a:t>Chiffres arrondis à titre indicatif : à actualiser avec les dernières éditions avant toute présentation officielle.</a:t>
            </a:r>
            <a:endParaRPr lang="en-US" sz="2000" dirty="0"/>
          </a:p>
        </p:txBody>
      </p:sp>
      <p:sp>
        <p:nvSpPr>
          <p:cNvPr id="25" name="Slide Number Placeholder 0"/>
          <p:cNvSpPr>
            <a:spLocks noGrp="1"/>
          </p:cNvSpPr>
          <p:nvPr>
            <p:ph type="sldNum" sz="quarter" idx="4294967295"/>
          </p:nvPr>
        </p:nvSpPr>
        <p:spPr>
          <a:xfrm>
            <a:off x="11155680" y="6355080"/>
            <a:ext cx="822960" cy="411480"/>
          </a:xfrm>
          <a:prstGeom prst="rect">
            <a:avLst/>
          </a:prstGeom>
          <a:extLst>
            <a:ext uri="{C572A759-6A51-4108-AA02-DFA0A04FC94B}">
              <ma14:wrappingTextBoxFlag xmlns:ma14="http://schemas.microsoft.com/office/mac/drawingml/2011/main" val="0"/>
            </a:ext>
          </a:extLst>
        </p:spPr>
        <p:txBody>
          <a:bodyPr/>
          <a:lstStyle>
            <a:lvl1pPr>
              <a:defRPr sz="2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Puissance Reseau">
  <a:themeElements>
    <a:clrScheme name="Puissance Reseau">
      <a:dk1>
        <a:srgbClr val="1D2B26"/>
      </a:dk1>
      <a:lt1>
        <a:srgbClr val="FFFFFF"/>
      </a:lt1>
      <a:dk2>
        <a:srgbClr val="0F3B2E"/>
      </a:dk2>
      <a:lt2>
        <a:srgbClr val="EAF2EE"/>
      </a:lt2>
      <a:accent1>
        <a:srgbClr val="F2B33D"/>
      </a:accent1>
      <a:accent2>
        <a:srgbClr val="D9622B"/>
      </a:accent2>
      <a:accent3>
        <a:srgbClr val="1F7A5C"/>
      </a:accent3>
      <a:accent4>
        <a:srgbClr val="3FA7A0"/>
      </a:accent4>
      <a:accent5>
        <a:srgbClr val="8C5A3C"/>
      </a:accent5>
      <a:accent6>
        <a:srgbClr val="4E6159"/>
      </a:accent6>
      <a:hlink>
        <a:srgbClr val="1F7A5C"/>
      </a:hlink>
      <a:folHlink>
        <a:srgbClr val="8C5A3C"/>
      </a:folHlink>
    </a:clrScheme>
    <a:fontScheme name="Puissance Reseau">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puissance du Marketing de Réseau</dc:title>
  <dc:subject>PptxGenJS Presentation</dc:subject>
  <dc:creator>dylane1998</dc:creator>
  <cp:lastModifiedBy>dylane1998</cp:lastModifiedBy>
  <cp:revision>1</cp:revision>
  <dcterms:created xsi:type="dcterms:W3CDTF">2026-10-03T08:09:57Z</dcterms:created>
  <dcterms:modified xsi:type="dcterms:W3CDTF">2026-10-03T08:09:57Z</dcterms:modified>
</cp:coreProperties>
</file>